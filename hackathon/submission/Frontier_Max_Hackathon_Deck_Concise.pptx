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67898e3dd04958" /><Relationship Type="http://schemas.openxmlformats.org/officeDocument/2006/relationships/extended-properties" Target="/docProps/app.xml" Id="Reef2776569244353" /><Relationship Type="http://schemas.openxmlformats.org/officeDocument/2006/relationships/officeDocument" Target="/ppt/presentation.xml" Id="R9d13b310f3d34c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b012c1a1be46e9"/>
  </p:sldMasterIdLst>
  <p:notesMasterIdLst>
    <p:notesMasterId xmlns:r="http://schemas.openxmlformats.org/officeDocument/2006/relationships" r:id="Rab62d127905240d7"/>
  </p:notesMasterIdLst>
  <p:sldIdLst>
    <p:sldId xmlns:r="http://schemas.openxmlformats.org/officeDocument/2006/relationships" id="256" r:id="Rcb56e96b53e94fff"/>
    <p:sldId xmlns:r="http://schemas.openxmlformats.org/officeDocument/2006/relationships" id="257" r:id="R89460cf4dc2e4283"/>
    <p:sldId xmlns:r="http://schemas.openxmlformats.org/officeDocument/2006/relationships" id="258" r:id="R8d4bc72096564320"/>
    <p:sldId xmlns:r="http://schemas.openxmlformats.org/officeDocument/2006/relationships" id="259" r:id="R569b41ec09ca4833"/>
    <p:sldId xmlns:r="http://schemas.openxmlformats.org/officeDocument/2006/relationships" id="260" r:id="R30adc6d5c0d346b6"/>
    <p:sldId xmlns:r="http://schemas.openxmlformats.org/officeDocument/2006/relationships" id="261" r:id="R2d781b5fc49e406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5c5a1fdea244f9" /><Relationship Type="http://schemas.openxmlformats.org/officeDocument/2006/relationships/slideMaster" Target="/ppt/slideMasters/slideMaster1.xml" Id="R07b012c1a1be46e9" /><Relationship Type="http://schemas.openxmlformats.org/officeDocument/2006/relationships/notesMaster" Target="/ppt/notesMasters/notesMaster1.xml" Id="Rab62d127905240d7" /><Relationship Type="http://schemas.openxmlformats.org/officeDocument/2006/relationships/presProps" Target="/ppt/presProps.xml" Id="R487389b434de4d30" /><Relationship Type="http://schemas.openxmlformats.org/officeDocument/2006/relationships/tableStyles" Target="/ppt/tableStyles.xml" Id="R326c45b292cc4e2d" /><Relationship Type="http://schemas.openxmlformats.org/officeDocument/2006/relationships/slide" Target="/ppt/slides/slide1.xml" Id="Rcb56e96b53e94fff" /><Relationship Type="http://schemas.openxmlformats.org/officeDocument/2006/relationships/slide" Target="/ppt/slides/slide2.xml" Id="R89460cf4dc2e4283" /><Relationship Type="http://schemas.openxmlformats.org/officeDocument/2006/relationships/slide" Target="/ppt/slides/slide3.xml" Id="R8d4bc72096564320" /><Relationship Type="http://schemas.openxmlformats.org/officeDocument/2006/relationships/slide" Target="/ppt/slides/slide4.xml" Id="R569b41ec09ca4833" /><Relationship Type="http://schemas.openxmlformats.org/officeDocument/2006/relationships/slide" Target="/ppt/slides/slide5.xml" Id="R30adc6d5c0d346b6" /><Relationship Type="http://schemas.openxmlformats.org/officeDocument/2006/relationships/slide" Target="/ppt/slides/slide6.xml" Id="R2d781b5fc49e40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2b787ab6814d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826ba24e1c46f3" /><Relationship Type="http://schemas.openxmlformats.org/officeDocument/2006/relationships/notesMaster" Target="/ppt/notesMasters/notesMaster1.xml" Id="Rdd76cc56888d40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d83b603a89492b" /><Relationship Type="http://schemas.openxmlformats.org/officeDocument/2006/relationships/notesMaster" Target="/ppt/notesMasters/notesMaster1.xml" Id="Re2059c419e2a40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1bf441a0124d06" /><Relationship Type="http://schemas.openxmlformats.org/officeDocument/2006/relationships/notesMaster" Target="/ppt/notesMasters/notesMaster1.xml" Id="Rd1b5ac70db7d40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e37e488be44c39" /><Relationship Type="http://schemas.openxmlformats.org/officeDocument/2006/relationships/notesMaster" Target="/ppt/notesMasters/notesMaster1.xml" Id="R4c0176823a154d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c29dbe288f4fb1" /><Relationship Type="http://schemas.openxmlformats.org/officeDocument/2006/relationships/notesMaster" Target="/ppt/notesMasters/notesMaster1.xml" Id="R5c8d7b604dac47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ac58b79ce64ca7" /><Relationship Type="http://schemas.openxmlformats.org/officeDocument/2006/relationships/notesMaster" Target="/ppt/notesMasters/notesMaster1.xml" Id="R0a60bf2f50d547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2caa472cbf49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00a29330184071" /><Relationship Type="http://schemas.openxmlformats.org/officeDocument/2006/relationships/slideLayout" Target="/ppt/slideLayouts/slideLayout1.xml" Id="Rfa73278e0fb546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73278e0fb546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c9ad46b504abf" /><Relationship Type="http://schemas.openxmlformats.org/officeDocument/2006/relationships/notesSlide" Target="/ppt/notesSlides/notesSlide1.xml" Id="R7e5a010f01f24e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0543d08e084b96" /><Relationship Type="http://schemas.openxmlformats.org/officeDocument/2006/relationships/notesSlide" Target="/ppt/notesSlides/notesSlide2.xml" Id="Re072c432d49e46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b05e64849a45a8" /><Relationship Type="http://schemas.openxmlformats.org/officeDocument/2006/relationships/notesSlide" Target="/ppt/notesSlides/notesSlide3.xml" Id="R2e87e736c9384a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21829253ef4742" /><Relationship Type="http://schemas.openxmlformats.org/officeDocument/2006/relationships/notesSlide" Target="/ppt/notesSlides/notesSlide4.xml" Id="R2c7d475dd4334a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aa4f6a2d054f6b" /><Relationship Type="http://schemas.openxmlformats.org/officeDocument/2006/relationships/notesSlide" Target="/ppt/notesSlides/notesSlide5.xml" Id="R6b2207901e5546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9adaf0f564a44" /><Relationship Type="http://schemas.openxmlformats.org/officeDocument/2006/relationships/notesSlide" Target="/ppt/notesSlides/notesSlide6.xml" Id="R8d5174c9e21c44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7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clay-field">
            <a:extLst xmlns:a="http://schemas.openxmlformats.org/drawingml/2006/main">
              <a:ext uri="{FF2B5EF4-FFF2-40B4-BE49-F238E27FC236}">
                <a16:creationId xmlns:a16="http://schemas.microsoft.com/office/drawing/2014/main" id="{7D7D93A1-4E3F-4984-A452-C23EC84F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0"/>
            <a:ext cx="3124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sage-field">
            <a:extLst xmlns:a="http://schemas.openxmlformats.org/drawingml/2006/main">
              <a:ext uri="{FF2B5EF4-FFF2-40B4-BE49-F238E27FC236}">
                <a16:creationId xmlns:a16="http://schemas.microsoft.com/office/drawing/2014/main" id="{146A6531-A719-4361-B4DD-55D38A1B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0"/>
            <a:ext cx="2514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-paper-field">
            <a:extLst xmlns:a="http://schemas.openxmlformats.org/drawingml/2006/main">
              <a:ext uri="{FF2B5EF4-FFF2-40B4-BE49-F238E27FC236}">
                <a16:creationId xmlns:a16="http://schemas.microsoft.com/office/drawing/2014/main" id="{E740286A-26EB-46ED-8AFD-FD77F7AE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0"/>
            <a:ext cx="180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-eyebrow-rule">
            <a:extLst xmlns:a="http://schemas.openxmlformats.org/drawingml/2006/main">
              <a:ext uri="{FF2B5EF4-FFF2-40B4-BE49-F238E27FC236}">
                <a16:creationId xmlns:a16="http://schemas.microsoft.com/office/drawing/2014/main" id="{32F2293F-3657-4224-9218-AA5892F9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3238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9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eyebrow">
            <a:extLst xmlns:a="http://schemas.openxmlformats.org/drawingml/2006/main">
              <a:ext uri="{FF2B5EF4-FFF2-40B4-BE49-F238E27FC236}">
                <a16:creationId xmlns:a16="http://schemas.microsoft.com/office/drawing/2014/main" id="{4E4BF546-D82E-4E85-858E-1F11540A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76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D6DDC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6DDCF"/>
                </a:solidFill>
                <a:latin typeface="Arial"/>
                <a:ea typeface="Arial"/>
                <a:cs typeface="Arial"/>
              </a:rPr>
              <a:t>STANFORD × DEEPMIND HACKATHON</a:t>
            </a:r>
          </a:p>
        </p:txBody>
      </p:sp>
      <p:sp>
        <p:nvSpPr>
          <p:cNvPr id="6" name="title-main">
            <a:extLst xmlns:a="http://schemas.openxmlformats.org/drawingml/2006/main">
              <a:ext uri="{FF2B5EF4-FFF2-40B4-BE49-F238E27FC236}">
                <a16:creationId xmlns:a16="http://schemas.microsoft.com/office/drawing/2014/main" id="{993EC913-9299-457C-A489-7E3A1E89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65722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2000"/>
              </a:lnSpc>
              <a:buNone/>
              <a:defRPr sz="6600" b="1" i="0">
                <a:solidFill>
                  <a:srgbClr val="FFFAF2"/>
                </a:solidFill>
                <a:latin typeface="Georgia"/>
                <a:ea typeface="Georgia"/>
                <a:cs typeface="Georgia"/>
              </a:defRPr>
            </a:pPr>
            <a:r>
              <a:rPr sz="6600" b="1" i="0">
                <a:solidFill>
                  <a:srgbClr val="FFFAF2"/>
                </a:solidFill>
                <a:latin typeface="Georgia"/>
                <a:ea typeface="Georgia"/>
                <a:cs typeface="Georgia"/>
              </a:rPr>
              <a:t>Frontier</a:t>
            </a:r>
          </a:p>
          <a:p xmlns:a="http://schemas.openxmlformats.org/drawingml/2006/main">
            <a:pPr algn="l">
              <a:lnSpc>
                <a:spcPct val="82000"/>
              </a:lnSpc>
              <a:buNone/>
              <a:defRPr sz="6600" b="1" i="0">
                <a:solidFill>
                  <a:srgbClr val="FFFAF2"/>
                </a:solidFill>
                <a:latin typeface="Georgia"/>
                <a:ea typeface="Georgia"/>
                <a:cs typeface="Georgia"/>
              </a:defRPr>
            </a:pPr>
            <a:r>
              <a:rPr sz="6600" b="1" i="0">
                <a:solidFill>
                  <a:srgbClr val="FFFAF2"/>
                </a:solidFill>
                <a:latin typeface="Georgia"/>
                <a:ea typeface="Georgia"/>
                <a:cs typeface="Georgia"/>
              </a:rPr>
              <a:t>Max</a:t>
            </a:r>
          </a:p>
        </p:txBody>
      </p:sp>
      <p:sp>
        <p:nvSpPr>
          <p:cNvPr id="7" name="title-tagline">
            <a:extLst xmlns:a="http://schemas.openxmlformats.org/drawingml/2006/main">
              <a:ext uri="{FF2B5EF4-FFF2-40B4-BE49-F238E27FC236}">
                <a16:creationId xmlns:a16="http://schemas.microsoft.com/office/drawing/2014/main" id="{9A7D05D8-2C19-4E68-9E30-96EBB237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 i="1">
                <a:solidFill>
                  <a:srgbClr val="D97954"/>
                </a:solidFill>
                <a:latin typeface="Georgia"/>
                <a:ea typeface="Georgia"/>
                <a:cs typeface="Georgia"/>
              </a:defRPr>
            </a:pPr>
            <a:r>
              <a:rPr sz="2250" b="0" i="1">
                <a:solidFill>
                  <a:srgbClr val="D97954"/>
                </a:solidFill>
                <a:latin typeface="Georgia"/>
                <a:ea typeface="Georgia"/>
                <a:cs typeface="Georgia"/>
              </a:rPr>
              <a:t>From benchmark to runtime.</a:t>
            </a:r>
          </a:p>
        </p:txBody>
      </p:sp>
      <p:sp>
        <p:nvSpPr>
          <p:cNvPr id="8" name="title-subtitle">
            <a:extLst xmlns:a="http://schemas.openxmlformats.org/drawingml/2006/main">
              <a:ext uri="{FF2B5EF4-FFF2-40B4-BE49-F238E27FC236}">
                <a16:creationId xmlns:a16="http://schemas.microsoft.com/office/drawing/2014/main" id="{140ED7D2-EF3F-4056-9EB6-BAC7328C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676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 i="0">
                <a:solidFill>
                  <a:srgbClr val="D6DDCF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D6DDCF"/>
                </a:solidFill>
                <a:latin typeface="Arial"/>
                <a:ea typeface="Arial"/>
                <a:cs typeface="Arial"/>
              </a:rPr>
              <a:t>Workload-aware model decisions, grounded in public evidence.</a:t>
            </a:r>
          </a:p>
        </p:txBody>
      </p:sp>
      <p:sp>
        <p:nvSpPr>
          <p:cNvPr id="9" name="title-url">
            <a:extLst xmlns:a="http://schemas.openxmlformats.org/drawingml/2006/main">
              <a:ext uri="{FF2B5EF4-FFF2-40B4-BE49-F238E27FC236}">
                <a16:creationId xmlns:a16="http://schemas.microsoft.com/office/drawing/2014/main" id="{BED90A6D-219F-4130-BA92-A9622E1A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AF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AF2"/>
                </a:solidFill>
                <a:latin typeface="Arial"/>
                <a:ea typeface="Arial"/>
                <a:cs typeface="Arial"/>
              </a:rPr>
              <a:t>agent-frontier.monilpat.chatgpt.site</a:t>
            </a:r>
          </a:p>
        </p:txBody>
      </p:sp>
      <p:sp>
        <p:nvSpPr>
          <p:cNvPr id="10" name="title-word-evidence">
            <a:extLst xmlns:a="http://schemas.openxmlformats.org/drawingml/2006/main">
              <a:ext uri="{FF2B5EF4-FFF2-40B4-BE49-F238E27FC236}">
                <a16:creationId xmlns:a16="http://schemas.microsoft.com/office/drawing/2014/main" id="{69F5E568-35F2-4DD8-98F2-DFC5D3CD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524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14271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4271D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1" name="title-word-policy">
            <a:extLst xmlns:a="http://schemas.openxmlformats.org/drawingml/2006/main">
              <a:ext uri="{FF2B5EF4-FFF2-40B4-BE49-F238E27FC236}">
                <a16:creationId xmlns:a16="http://schemas.microsoft.com/office/drawing/2014/main" id="{FB0FB784-EC43-4414-986B-0665D01E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76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14271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4271D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12" name="title-word-route">
            <a:extLst xmlns:a="http://schemas.openxmlformats.org/drawingml/2006/main">
              <a:ext uri="{FF2B5EF4-FFF2-40B4-BE49-F238E27FC236}">
                <a16:creationId xmlns:a16="http://schemas.microsoft.com/office/drawing/2014/main" id="{17F94749-9026-4979-B295-D3DF987E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0292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14271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4271D"/>
                </a:solidFill>
                <a:latin typeface="Arial"/>
                <a:ea typeface="Arial"/>
                <a:cs typeface="Arial"/>
              </a:rPr>
              <a:t>ROUTE</a:t>
            </a:r>
          </a:p>
        </p:txBody>
      </p:sp>
      <p:sp>
        <p:nvSpPr>
          <p:cNvPr id="13" name="title-dot-1">
            <a:extLst xmlns:a="http://schemas.openxmlformats.org/drawingml/2006/main">
              <a:ext uri="{FF2B5EF4-FFF2-40B4-BE49-F238E27FC236}">
                <a16:creationId xmlns:a16="http://schemas.microsoft.com/office/drawing/2014/main" id="{0A1BA53E-24B3-41EA-B1F4-D2327643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000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7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itle-dot-2">
            <a:extLst xmlns:a="http://schemas.openxmlformats.org/drawingml/2006/main">
              <a:ext uri="{FF2B5EF4-FFF2-40B4-BE49-F238E27FC236}">
                <a16:creationId xmlns:a16="http://schemas.microsoft.com/office/drawing/2014/main" id="{C4AE1B0C-2D1E-487A-8E69-40D5E6F3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528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7C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itle-dot-3">
            <a:extLst xmlns:a="http://schemas.openxmlformats.org/drawingml/2006/main">
              <a:ext uri="{FF2B5EF4-FFF2-40B4-BE49-F238E27FC236}">
                <a16:creationId xmlns:a16="http://schemas.microsoft.com/office/drawing/2014/main" id="{466694C6-18B4-4039-A96D-2F070F19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505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95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468625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insight-eyebrow-rule">
            <a:extLst xmlns:a="http://schemas.openxmlformats.org/drawingml/2006/main">
              <a:ext uri="{FF2B5EF4-FFF2-40B4-BE49-F238E27FC236}">
                <a16:creationId xmlns:a16="http://schemas.microsoft.com/office/drawing/2014/main" id="{7CCA078D-732C-4129-A56F-3EDF1319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3238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9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insight-eyebrow">
            <a:extLst xmlns:a="http://schemas.openxmlformats.org/drawingml/2006/main">
              <a:ext uri="{FF2B5EF4-FFF2-40B4-BE49-F238E27FC236}">
                <a16:creationId xmlns:a16="http://schemas.microsoft.com/office/drawing/2014/main" id="{72461831-631B-4905-8020-10F1BBFA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76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B756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B756E"/>
                </a:solidFill>
                <a:latin typeface="Arial"/>
                <a:ea typeface="Arial"/>
                <a:cs typeface="Arial"/>
              </a:rPr>
              <a:t>THE INSIGHT</a:t>
            </a:r>
          </a:p>
        </p:txBody>
      </p:sp>
      <p:sp>
        <p:nvSpPr>
          <p:cNvPr id="3" name="insight-title">
            <a:extLst xmlns:a="http://schemas.openxmlformats.org/drawingml/2006/main">
              <a:ext uri="{FF2B5EF4-FFF2-40B4-BE49-F238E27FC236}">
                <a16:creationId xmlns:a16="http://schemas.microsoft.com/office/drawing/2014/main" id="{F392E221-05DF-4F24-8EA2-6D1A8232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 i="0">
                <a:solidFill>
                  <a:srgbClr val="14271D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4271D"/>
                </a:solidFill>
                <a:latin typeface="Georgia"/>
                <a:ea typeface="Georgia"/>
                <a:cs typeface="Georgia"/>
              </a:rPr>
              <a:t>There is no universally best model.</a:t>
            </a:r>
          </a:p>
        </p:txBody>
      </p:sp>
      <p:sp>
        <p:nvSpPr>
          <p:cNvPr id="4" name="insight-wrong-label">
            <a:extLst xmlns:a="http://schemas.openxmlformats.org/drawingml/2006/main">
              <a:ext uri="{FF2B5EF4-FFF2-40B4-BE49-F238E27FC236}">
                <a16:creationId xmlns:a16="http://schemas.microsoft.com/office/drawing/2014/main" id="{5936D1E7-6D98-4D7F-B377-0A67C9C4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D9795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97954"/>
                </a:solidFill>
                <a:latin typeface="Arial"/>
                <a:ea typeface="Arial"/>
                <a:cs typeface="Arial"/>
              </a:rPr>
              <a:t>THE WRONG QUESTION</a:t>
            </a:r>
          </a:p>
        </p:txBody>
      </p:sp>
      <p:sp>
        <p:nvSpPr>
          <p:cNvPr id="5" name="insight-wrong-question">
            <a:extLst xmlns:a="http://schemas.openxmlformats.org/drawingml/2006/main">
              <a:ext uri="{FF2B5EF4-FFF2-40B4-BE49-F238E27FC236}">
                <a16:creationId xmlns:a16="http://schemas.microsoft.com/office/drawing/2014/main" id="{DCD7056B-022D-4196-867D-7E1767F3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43200"/>
            <a:ext cx="4000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75" b="1" i="0">
                <a:solidFill>
                  <a:srgbClr val="6B756E"/>
                </a:solidFill>
                <a:latin typeface="Georgia"/>
                <a:ea typeface="Georgia"/>
                <a:cs typeface="Georgia"/>
              </a:defRPr>
            </a:pPr>
            <a:r>
              <a:rPr sz="2775" b="1" i="0">
                <a:solidFill>
                  <a:srgbClr val="6B756E"/>
                </a:solidFill>
                <a:latin typeface="Georgia"/>
                <a:ea typeface="Georgia"/>
                <a:cs typeface="Georgia"/>
              </a:rPr>
              <a:t>“Which model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2775" b="1" i="0">
                <a:solidFill>
                  <a:srgbClr val="6B756E"/>
                </a:solidFill>
                <a:latin typeface="Georgia"/>
                <a:ea typeface="Georgia"/>
                <a:cs typeface="Georgia"/>
              </a:defRPr>
            </a:pPr>
            <a:r>
              <a:rPr sz="2775" b="1" i="0">
                <a:solidFill>
                  <a:srgbClr val="6B756E"/>
                </a:solidFill>
                <a:latin typeface="Georgia"/>
                <a:ea typeface="Georgia"/>
                <a:cs typeface="Georgia"/>
              </a:rPr>
              <a:t>scored highest?”</a:t>
            </a:r>
          </a:p>
        </p:txBody>
      </p:sp>
      <p:sp>
        <p:nvSpPr>
          <p:cNvPr id="6" name="insight-wrong-note">
            <a:extLst xmlns:a="http://schemas.openxmlformats.org/drawingml/2006/main">
              <a:ext uri="{FF2B5EF4-FFF2-40B4-BE49-F238E27FC236}">
                <a16:creationId xmlns:a16="http://schemas.microsoft.com/office/drawing/2014/main" id="{8876B560-A37E-427D-B34F-13C5CD08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377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6B756E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B756E"/>
                </a:solidFill>
                <a:latin typeface="Arial"/>
                <a:ea typeface="Arial"/>
                <a:cs typeface="Arial"/>
              </a:rPr>
              <a:t>A rank erases the constraints that determine whether a model works.</a:t>
            </a:r>
          </a:p>
        </p:txBody>
      </p:sp>
      <p:sp>
        <p:nvSpPr>
          <p:cNvPr id="7" name="insight-divider">
            <a:extLst xmlns:a="http://schemas.openxmlformats.org/drawingml/2006/main">
              <a:ext uri="{FF2B5EF4-FFF2-40B4-BE49-F238E27FC236}">
                <a16:creationId xmlns:a16="http://schemas.microsoft.com/office/drawing/2014/main" id="{A8CF4D6B-1044-461B-BA7B-8389355E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33600"/>
            <a:ext cx="38100" cy="3695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9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nsight-right-label">
            <a:extLst xmlns:a="http://schemas.openxmlformats.org/drawingml/2006/main">
              <a:ext uri="{FF2B5EF4-FFF2-40B4-BE49-F238E27FC236}">
                <a16:creationId xmlns:a16="http://schemas.microsoft.com/office/drawing/2014/main" id="{0B7358BD-4191-43BC-8D7D-28A6A67C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145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437C69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37C69"/>
                </a:solidFill>
                <a:latin typeface="Arial"/>
                <a:ea typeface="Arial"/>
                <a:cs typeface="Arial"/>
              </a:rPr>
              <a:t>WORKLOAD  →  OBJECTIVE</a:t>
            </a:r>
          </a:p>
        </p:txBody>
      </p:sp>
      <p:sp>
        <p:nvSpPr>
          <p:cNvPr id="9" name="insight-row-rule-0">
            <a:extLst xmlns:a="http://schemas.openxmlformats.org/drawingml/2006/main">
              <a:ext uri="{FF2B5EF4-FFF2-40B4-BE49-F238E27FC236}">
                <a16:creationId xmlns:a16="http://schemas.microsoft.com/office/drawing/2014/main" id="{5EA09409-B80A-494D-9965-4A1C2C22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3337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2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insight-row-accent-0">
            <a:extLst xmlns:a="http://schemas.openxmlformats.org/drawingml/2006/main">
              <a:ext uri="{FF2B5EF4-FFF2-40B4-BE49-F238E27FC236}">
                <a16:creationId xmlns:a16="http://schemas.microsoft.com/office/drawing/2014/main" id="{E9C6C6CA-9D60-4EAA-B606-78677B48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705100"/>
            <a:ext cx="66675" cy="4572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979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insight-row-mode-0">
            <a:extLst xmlns:a="http://schemas.openxmlformats.org/drawingml/2006/main">
              <a:ext uri="{FF2B5EF4-FFF2-40B4-BE49-F238E27FC236}">
                <a16:creationId xmlns:a16="http://schemas.microsoft.com/office/drawing/2014/main" id="{CDA9936B-9EDA-40B0-A7D5-B5366076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479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D97954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97954"/>
                </a:solidFill>
                <a:latin typeface="Arial"/>
                <a:ea typeface="Arial"/>
                <a:cs typeface="Arial"/>
              </a:rPr>
              <a:t>INTERACTIVE CODING</a:t>
            </a:r>
          </a:p>
        </p:txBody>
      </p:sp>
      <p:sp>
        <p:nvSpPr>
          <p:cNvPr id="12" name="insight-row-objective-0">
            <a:extLst xmlns:a="http://schemas.openxmlformats.org/drawingml/2006/main">
              <a:ext uri="{FF2B5EF4-FFF2-40B4-BE49-F238E27FC236}">
                <a16:creationId xmlns:a16="http://schemas.microsoft.com/office/drawing/2014/main" id="{0B5AE3AB-CF81-4C9B-8BAE-75F37DE5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9850"/>
            <a:ext cx="320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650" b="1" i="0">
                <a:solidFill>
                  <a:srgbClr val="14271D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14271D"/>
                </a:solidFill>
                <a:latin typeface="Georgia"/>
                <a:ea typeface="Georgia"/>
                <a:cs typeface="Georgia"/>
              </a:rPr>
              <a:t>Speed—after quality clears the floor</a:t>
            </a:r>
          </a:p>
        </p:txBody>
      </p:sp>
      <p:sp>
        <p:nvSpPr>
          <p:cNvPr id="13" name="insight-row-rule-1">
            <a:extLst xmlns:a="http://schemas.openxmlformats.org/drawingml/2006/main">
              <a:ext uri="{FF2B5EF4-FFF2-40B4-BE49-F238E27FC236}">
                <a16:creationId xmlns:a16="http://schemas.microsoft.com/office/drawing/2014/main" id="{5DA455E3-08E3-4D25-A44E-FEEBCB79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3243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2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nsight-row-accent-1">
            <a:extLst xmlns:a="http://schemas.openxmlformats.org/drawingml/2006/main">
              <a:ext uri="{FF2B5EF4-FFF2-40B4-BE49-F238E27FC236}">
                <a16:creationId xmlns:a16="http://schemas.microsoft.com/office/drawing/2014/main" id="{F00F7CE3-3442-4857-BD70-DA328043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695700"/>
            <a:ext cx="66675" cy="4572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437C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nsight-row-mode-1">
            <a:extLst xmlns:a="http://schemas.openxmlformats.org/drawingml/2006/main">
              <a:ext uri="{FF2B5EF4-FFF2-40B4-BE49-F238E27FC236}">
                <a16:creationId xmlns:a16="http://schemas.microsoft.com/office/drawing/2014/main" id="{B6C6EA88-8276-45D4-9D7F-7BDC6B7D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385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437C69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437C69"/>
                </a:solidFill>
                <a:latin typeface="Arial"/>
                <a:ea typeface="Arial"/>
                <a:cs typeface="Arial"/>
              </a:rPr>
              <a:t>DELEGATED AGENT</a:t>
            </a:r>
          </a:p>
        </p:txBody>
      </p:sp>
      <p:sp>
        <p:nvSpPr>
          <p:cNvPr id="16" name="insight-row-objective-1">
            <a:extLst xmlns:a="http://schemas.openxmlformats.org/drawingml/2006/main">
              <a:ext uri="{FF2B5EF4-FFF2-40B4-BE49-F238E27FC236}">
                <a16:creationId xmlns:a16="http://schemas.microsoft.com/office/drawing/2014/main" id="{8E8D20A6-17F3-4612-986F-8D0F7412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00450"/>
            <a:ext cx="320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650" b="1" i="0">
                <a:solidFill>
                  <a:srgbClr val="14271D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14271D"/>
                </a:solidFill>
                <a:latin typeface="Georgia"/>
                <a:ea typeface="Georgia"/>
                <a:cs typeface="Georgia"/>
              </a:rPr>
              <a:t>Cost—after quality clears the floor</a:t>
            </a:r>
          </a:p>
        </p:txBody>
      </p:sp>
      <p:sp>
        <p:nvSpPr>
          <p:cNvPr id="17" name="insight-row-rule-2">
            <a:extLst xmlns:a="http://schemas.openxmlformats.org/drawingml/2006/main">
              <a:ext uri="{FF2B5EF4-FFF2-40B4-BE49-F238E27FC236}">
                <a16:creationId xmlns:a16="http://schemas.microsoft.com/office/drawing/2014/main" id="{919B8C49-6B2F-4050-9761-3B15BFAF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3149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2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insight-row-accent-2">
            <a:extLst xmlns:a="http://schemas.openxmlformats.org/drawingml/2006/main">
              <a:ext uri="{FF2B5EF4-FFF2-40B4-BE49-F238E27FC236}">
                <a16:creationId xmlns:a16="http://schemas.microsoft.com/office/drawing/2014/main" id="{D5214603-3AD1-43CB-8410-FEB1C21D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686300"/>
            <a:ext cx="66675" cy="4572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B48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insight-row-mode-2">
            <a:extLst xmlns:a="http://schemas.openxmlformats.org/drawingml/2006/main">
              <a:ext uri="{FF2B5EF4-FFF2-40B4-BE49-F238E27FC236}">
                <a16:creationId xmlns:a16="http://schemas.microsoft.com/office/drawing/2014/main" id="{41157CD0-812A-4A7D-A9CD-6E337F2C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291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B48A3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48A35"/>
                </a:solidFill>
                <a:latin typeface="Arial"/>
                <a:ea typeface="Arial"/>
                <a:cs typeface="Arial"/>
              </a:rPr>
              <a:t>REAL-TIME / BATCH</a:t>
            </a:r>
          </a:p>
        </p:txBody>
      </p:sp>
      <p:sp>
        <p:nvSpPr>
          <p:cNvPr id="20" name="insight-row-objective-2">
            <a:extLst xmlns:a="http://schemas.openxmlformats.org/drawingml/2006/main">
              <a:ext uri="{FF2B5EF4-FFF2-40B4-BE49-F238E27FC236}">
                <a16:creationId xmlns:a16="http://schemas.microsoft.com/office/drawing/2014/main" id="{B6E95992-2362-49D8-96A6-50D9E88F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91050"/>
            <a:ext cx="320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650" b="1" i="0">
                <a:solidFill>
                  <a:srgbClr val="14271D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14271D"/>
                </a:solidFill>
                <a:latin typeface="Georgia"/>
                <a:ea typeface="Georgia"/>
                <a:cs typeface="Georgia"/>
              </a:rPr>
              <a:t>p95 latency or accepted throughput</a:t>
            </a:r>
          </a:p>
        </p:txBody>
      </p:sp>
      <p:sp>
        <p:nvSpPr>
          <p:cNvPr id="21" name="insight-tokens">
            <a:extLst xmlns:a="http://schemas.openxmlformats.org/drawingml/2006/main">
              <a:ext uri="{FF2B5EF4-FFF2-40B4-BE49-F238E27FC236}">
                <a16:creationId xmlns:a16="http://schemas.microsoft.com/office/drawing/2014/main" id="{5994B2FF-5143-4132-AB39-2C476504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619750"/>
            <a:ext cx="565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 i="0">
                <a:solidFill>
                  <a:srgbClr val="14271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4271D"/>
                </a:solidFill>
                <a:latin typeface="Arial"/>
                <a:ea typeface="Arial"/>
                <a:cs typeface="Arial"/>
              </a:rPr>
              <a:t>Tokens matter when they bind cost, context, or time.</a:t>
            </a:r>
          </a:p>
        </p:txBody>
      </p:sp>
      <p:sp>
        <p:nvSpPr>
          <p:cNvPr id="22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13A5A0E4-0052-4460-B1C4-4E42C176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6B756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B756E"/>
                </a:solidFill>
                <a:latin typeface="Arial"/>
                <a:ea typeface="Arial"/>
                <a:cs typeface="Arial"/>
              </a:rPr>
              <a:t>FRONTIER MAX</a:t>
            </a:r>
          </a:p>
        </p:txBody>
      </p:sp>
      <p:sp>
        <p:nvSpPr>
          <p:cNvPr id="23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815558DE-0FE6-480B-BD8E-DA9CD865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B756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B756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356602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hain-eyebrow-rule">
            <a:extLst xmlns:a="http://schemas.openxmlformats.org/drawingml/2006/main">
              <a:ext uri="{FF2B5EF4-FFF2-40B4-BE49-F238E27FC236}">
                <a16:creationId xmlns:a16="http://schemas.microsoft.com/office/drawing/2014/main" id="{BADB5E61-1CBB-4A43-9DF4-A7E56CBC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3238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9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in-eyebrow">
            <a:extLst xmlns:a="http://schemas.openxmlformats.org/drawingml/2006/main">
              <a:ext uri="{FF2B5EF4-FFF2-40B4-BE49-F238E27FC236}">
                <a16:creationId xmlns:a16="http://schemas.microsoft.com/office/drawing/2014/main" id="{2C00559B-95A6-40D0-B827-3EBE2ADF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76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B756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B756E"/>
                </a:solidFill>
                <a:latin typeface="Arial"/>
                <a:ea typeface="Arial"/>
                <a:cs typeface="Arial"/>
              </a:rPr>
              <a:t>FRONTIER MAX</a:t>
            </a:r>
          </a:p>
        </p:txBody>
      </p:sp>
      <p:sp>
        <p:nvSpPr>
          <p:cNvPr id="3" name="chain-title">
            <a:extLst xmlns:a="http://schemas.openxmlformats.org/drawingml/2006/main">
              <a:ext uri="{FF2B5EF4-FFF2-40B4-BE49-F238E27FC236}">
                <a16:creationId xmlns:a16="http://schemas.microsoft.com/office/drawing/2014/main" id="{57628FAC-0BD6-46CC-B017-8B8F84F2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 i="0">
                <a:solidFill>
                  <a:srgbClr val="14271D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4271D"/>
                </a:solidFill>
                <a:latin typeface="Georgia"/>
                <a:ea typeface="Georgia"/>
                <a:cs typeface="Georgia"/>
              </a:rPr>
              <a:t>Evidence becomes an executable decision.</a:t>
            </a:r>
          </a:p>
        </p:txBody>
      </p:sp>
      <p:sp>
        <p:nvSpPr>
          <p:cNvPr id="4" name="chain-subtitle">
            <a:extLst xmlns:a="http://schemas.openxmlformats.org/drawingml/2006/main">
              <a:ext uri="{FF2B5EF4-FFF2-40B4-BE49-F238E27FC236}">
                <a16:creationId xmlns:a16="http://schemas.microsoft.com/office/drawing/2014/main" id="{BB13476D-8CAF-4F25-B1C7-5B36A4FD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6B756E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6B756E"/>
                </a:solidFill>
                <a:latin typeface="Arial"/>
                <a:ea typeface="Arial"/>
                <a:cs typeface="Arial"/>
              </a:rPr>
              <a:t>The reasoning stays inspectable end to end.</a:t>
            </a:r>
          </a:p>
        </p:txBody>
      </p:sp>
      <p:sp>
        <p:nvSpPr>
          <p:cNvPr id="5" name="chain-backbone">
            <a:extLst xmlns:a="http://schemas.openxmlformats.org/drawingml/2006/main">
              <a:ext uri="{FF2B5EF4-FFF2-40B4-BE49-F238E27FC236}">
                <a16:creationId xmlns:a16="http://schemas.microsoft.com/office/drawing/2014/main" id="{9C44BD60-A670-4B1A-AC41-4451F732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71850"/>
            <a:ext cx="102870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C2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hain-dot-0">
            <a:extLst xmlns:a="http://schemas.openxmlformats.org/drawingml/2006/main">
              <a:ext uri="{FF2B5EF4-FFF2-40B4-BE49-F238E27FC236}">
                <a16:creationId xmlns:a16="http://schemas.microsoft.com/office/drawing/2014/main" id="{EE5FE3DE-11F5-44E8-95E9-9D94B303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7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hain-num-0">
            <a:extLst xmlns:a="http://schemas.openxmlformats.org/drawingml/2006/main">
              <a:ext uri="{FF2B5EF4-FFF2-40B4-BE49-F238E27FC236}">
                <a16:creationId xmlns:a16="http://schemas.microsoft.com/office/drawing/2014/main" id="{1EAAF4E7-9D7F-4388-9CC2-3FCCFE54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480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AF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AF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chain-word-0">
            <a:extLst xmlns:a="http://schemas.openxmlformats.org/drawingml/2006/main">
              <a:ext uri="{FF2B5EF4-FFF2-40B4-BE49-F238E27FC236}">
                <a16:creationId xmlns:a16="http://schemas.microsoft.com/office/drawing/2014/main" id="{B402FCFC-F32E-40D2-B72B-CB60DDBB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14271D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14271D"/>
                </a:solidFill>
                <a:latin typeface="Georgia"/>
                <a:ea typeface="Georgia"/>
                <a:cs typeface="Georgia"/>
              </a:rPr>
              <a:t>READ</a:t>
            </a:r>
          </a:p>
        </p:txBody>
      </p:sp>
      <p:sp>
        <p:nvSpPr>
          <p:cNvPr id="9" name="chain-note-0">
            <a:extLst xmlns:a="http://schemas.openxmlformats.org/drawingml/2006/main">
              <a:ext uri="{FF2B5EF4-FFF2-40B4-BE49-F238E27FC236}">
                <a16:creationId xmlns:a16="http://schemas.microsoft.com/office/drawing/2014/main" id="{CDDD9B38-C94E-463B-A5DC-1C7A58D8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2209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2633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6332B"/>
                </a:solidFill>
                <a:latin typeface="Arial"/>
                <a:ea typeface="Arial"/>
                <a:cs typeface="Arial"/>
              </a:rPr>
              <a:t>Source + version</a:t>
            </a:r>
          </a:p>
        </p:txBody>
      </p:sp>
      <p:sp>
        <p:nvSpPr>
          <p:cNvPr id="10" name="chain-dot-1">
            <a:extLst xmlns:a="http://schemas.openxmlformats.org/drawingml/2006/main">
              <a:ext uri="{FF2B5EF4-FFF2-40B4-BE49-F238E27FC236}">
                <a16:creationId xmlns:a16="http://schemas.microsoft.com/office/drawing/2014/main" id="{C06EC73F-7D30-4B03-8E04-55DD2BF4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242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7C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hain-num-1">
            <a:extLst xmlns:a="http://schemas.openxmlformats.org/drawingml/2006/main">
              <a:ext uri="{FF2B5EF4-FFF2-40B4-BE49-F238E27FC236}">
                <a16:creationId xmlns:a16="http://schemas.microsoft.com/office/drawing/2014/main" id="{D258E7F0-7107-4A69-877B-887972E8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480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AF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AF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chain-word-1">
            <a:extLst xmlns:a="http://schemas.openxmlformats.org/drawingml/2006/main">
              <a:ext uri="{FF2B5EF4-FFF2-40B4-BE49-F238E27FC236}">
                <a16:creationId xmlns:a16="http://schemas.microsoft.com/office/drawing/2014/main" id="{46CA5514-816F-499F-8512-9211D3BB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71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437C69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437C69"/>
                </a:solidFill>
                <a:latin typeface="Georgia"/>
                <a:ea typeface="Georgia"/>
                <a:cs typeface="Georgia"/>
              </a:rPr>
              <a:t>DECIDE</a:t>
            </a:r>
          </a:p>
        </p:txBody>
      </p:sp>
      <p:sp>
        <p:nvSpPr>
          <p:cNvPr id="13" name="chain-note-1">
            <a:extLst xmlns:a="http://schemas.openxmlformats.org/drawingml/2006/main">
              <a:ext uri="{FF2B5EF4-FFF2-40B4-BE49-F238E27FC236}">
                <a16:creationId xmlns:a16="http://schemas.microsoft.com/office/drawing/2014/main" id="{F3CEEBC0-9957-4E57-B802-5825A56D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886200"/>
            <a:ext cx="2209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2633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6332B"/>
                </a:solidFill>
                <a:latin typeface="Arial"/>
                <a:ea typeface="Arial"/>
                <a:cs typeface="Arial"/>
              </a:rPr>
              <a:t>Hard gates + frontier</a:t>
            </a:r>
          </a:p>
        </p:txBody>
      </p:sp>
      <p:sp>
        <p:nvSpPr>
          <p:cNvPr id="14" name="chain-dot-2">
            <a:extLst xmlns:a="http://schemas.openxmlformats.org/drawingml/2006/main">
              <a:ext uri="{FF2B5EF4-FFF2-40B4-BE49-F238E27FC236}">
                <a16:creationId xmlns:a16="http://schemas.microsoft.com/office/drawing/2014/main" id="{4AEE3E31-D5B7-44CB-B83D-B4E5F67B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242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9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hain-num-2">
            <a:extLst xmlns:a="http://schemas.openxmlformats.org/drawingml/2006/main">
              <a:ext uri="{FF2B5EF4-FFF2-40B4-BE49-F238E27FC236}">
                <a16:creationId xmlns:a16="http://schemas.microsoft.com/office/drawing/2014/main" id="{DD637DA8-6683-451E-97AB-583AA63A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480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AF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AF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chain-word-2">
            <a:extLst xmlns:a="http://schemas.openxmlformats.org/drawingml/2006/main">
              <a:ext uri="{FF2B5EF4-FFF2-40B4-BE49-F238E27FC236}">
                <a16:creationId xmlns:a16="http://schemas.microsoft.com/office/drawing/2014/main" id="{DF44447A-72C7-4367-9830-8E2CB6A8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71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D97954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D97954"/>
                </a:solidFill>
                <a:latin typeface="Georgia"/>
                <a:ea typeface="Georgia"/>
                <a:cs typeface="Georgia"/>
              </a:rPr>
              <a:t>ROUTE</a:t>
            </a:r>
          </a:p>
        </p:txBody>
      </p:sp>
      <p:sp>
        <p:nvSpPr>
          <p:cNvPr id="17" name="chain-note-2">
            <a:extLst xmlns:a="http://schemas.openxmlformats.org/drawingml/2006/main">
              <a:ext uri="{FF2B5EF4-FFF2-40B4-BE49-F238E27FC236}">
                <a16:creationId xmlns:a16="http://schemas.microsoft.com/office/drawing/2014/main" id="{10C2CBB8-45B0-41E1-8A36-256C1A9A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86200"/>
            <a:ext cx="2209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2633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6332B"/>
                </a:solidFill>
                <a:latin typeface="Arial"/>
                <a:ea typeface="Arial"/>
                <a:cs typeface="Arial"/>
              </a:rPr>
              <a:t>OpenRouter → OpenCode</a:t>
            </a:r>
          </a:p>
        </p:txBody>
      </p:sp>
      <p:sp>
        <p:nvSpPr>
          <p:cNvPr id="18" name="chain-dot-3">
            <a:extLst xmlns:a="http://schemas.openxmlformats.org/drawingml/2006/main">
              <a:ext uri="{FF2B5EF4-FFF2-40B4-BE49-F238E27FC236}">
                <a16:creationId xmlns:a16="http://schemas.microsoft.com/office/drawing/2014/main" id="{3660AAE5-8A8C-4035-A029-38127D42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242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8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hain-num-3">
            <a:extLst xmlns:a="http://schemas.openxmlformats.org/drawingml/2006/main">
              <a:ext uri="{FF2B5EF4-FFF2-40B4-BE49-F238E27FC236}">
                <a16:creationId xmlns:a16="http://schemas.microsoft.com/office/drawing/2014/main" id="{619A0F06-2BFF-45D8-AA84-8132DB74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480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AF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AF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chain-word-3">
            <a:extLst xmlns:a="http://schemas.openxmlformats.org/drawingml/2006/main">
              <a:ext uri="{FF2B5EF4-FFF2-40B4-BE49-F238E27FC236}">
                <a16:creationId xmlns:a16="http://schemas.microsoft.com/office/drawing/2014/main" id="{8C75EEA3-454F-4807-B82C-B3785233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71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B48A35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B48A35"/>
                </a:solidFill>
                <a:latin typeface="Georgia"/>
                <a:ea typeface="Georgia"/>
                <a:cs typeface="Georgia"/>
              </a:rPr>
              <a:t>PROVE</a:t>
            </a:r>
          </a:p>
        </p:txBody>
      </p:sp>
      <p:sp>
        <p:nvSpPr>
          <p:cNvPr id="21" name="chain-note-3">
            <a:extLst xmlns:a="http://schemas.openxmlformats.org/drawingml/2006/main">
              <a:ext uri="{FF2B5EF4-FFF2-40B4-BE49-F238E27FC236}">
                <a16:creationId xmlns:a16="http://schemas.microsoft.com/office/drawing/2014/main" id="{55B256FE-80DE-436C-AF73-BEEC5E75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86200"/>
            <a:ext cx="2209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2633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6332B"/>
                </a:solidFill>
                <a:latin typeface="Arial"/>
                <a:ea typeface="Arial"/>
                <a:cs typeface="Arial"/>
              </a:rPr>
              <a:t>Versioned policy receipt</a:t>
            </a:r>
          </a:p>
        </p:txBody>
      </p:sp>
      <p:sp>
        <p:nvSpPr>
          <p:cNvPr id="22" name="chain-outcome-band">
            <a:extLst xmlns:a="http://schemas.openxmlformats.org/drawingml/2006/main">
              <a:ext uri="{FF2B5EF4-FFF2-40B4-BE49-F238E27FC236}">
                <a16:creationId xmlns:a16="http://schemas.microsoft.com/office/drawing/2014/main" id="{A8ABF590-F6A6-4C43-A4B2-B0C42C42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108585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1427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hain-outcome">
            <a:extLst xmlns:a="http://schemas.openxmlformats.org/drawingml/2006/main">
              <a:ext uri="{FF2B5EF4-FFF2-40B4-BE49-F238E27FC236}">
                <a16:creationId xmlns:a16="http://schemas.microsoft.com/office/drawing/2014/main" id="{4C24799E-9CBD-43AE-A2CD-15FF1F19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05425"/>
            <a:ext cx="1021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 i="0">
                <a:solidFill>
                  <a:srgbClr val="FFFAF2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FFFAF2"/>
                </a:solidFill>
                <a:latin typeface="Georgia"/>
                <a:ea typeface="Georgia"/>
                <a:cs typeface="Georgia"/>
              </a:rPr>
              <a:t>Public evidence in. Reproducible policy out.</a:t>
            </a:r>
          </a:p>
        </p:txBody>
      </p:sp>
      <p:sp>
        <p:nvSpPr>
          <p:cNvPr id="24" name="footer-brand-3">
            <a:extLst xmlns:a="http://schemas.openxmlformats.org/drawingml/2006/main">
              <a:ext uri="{FF2B5EF4-FFF2-40B4-BE49-F238E27FC236}">
                <a16:creationId xmlns:a16="http://schemas.microsoft.com/office/drawing/2014/main" id="{44A15FF3-8E38-482C-8855-3CB8182D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6B756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B756E"/>
                </a:solidFill>
                <a:latin typeface="Arial"/>
                <a:ea typeface="Arial"/>
                <a:cs typeface="Arial"/>
              </a:rPr>
              <a:t>FRONTIER MAX</a:t>
            </a:r>
          </a:p>
        </p:txBody>
      </p:sp>
      <p:sp>
        <p:nvSpPr>
          <p:cNvPr id="25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E42FB881-C07A-4FFB-9334-CD805FEF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B756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B756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923028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427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ask-left-field">
            <a:extLst xmlns:a="http://schemas.openxmlformats.org/drawingml/2006/main">
              <a:ext uri="{FF2B5EF4-FFF2-40B4-BE49-F238E27FC236}">
                <a16:creationId xmlns:a16="http://schemas.microsoft.com/office/drawing/2014/main" id="{61804E6B-A25A-4238-B545-6AD0BEAB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38350"/>
            <a:ext cx="609600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ask-right-field">
            <a:extLst xmlns:a="http://schemas.openxmlformats.org/drawingml/2006/main">
              <a:ext uri="{FF2B5EF4-FFF2-40B4-BE49-F238E27FC236}">
                <a16:creationId xmlns:a16="http://schemas.microsoft.com/office/drawing/2014/main" id="{5F03D83F-9AE2-40D5-A5A6-CEA3FC9F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609600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ask-center-rule">
            <a:extLst xmlns:a="http://schemas.openxmlformats.org/drawingml/2006/main">
              <a:ext uri="{FF2B5EF4-FFF2-40B4-BE49-F238E27FC236}">
                <a16:creationId xmlns:a16="http://schemas.microsoft.com/office/drawing/2014/main" id="{2B334A2B-6B05-415D-B77B-AEF9F8A5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38350"/>
            <a:ext cx="38100" cy="421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9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ask-eyebrow-rule">
            <a:extLst xmlns:a="http://schemas.openxmlformats.org/drawingml/2006/main">
              <a:ext uri="{FF2B5EF4-FFF2-40B4-BE49-F238E27FC236}">
                <a16:creationId xmlns:a16="http://schemas.microsoft.com/office/drawing/2014/main" id="{6B8ADB31-21E2-4DC1-8D83-CA64E09C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3238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9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ask-eyebrow">
            <a:extLst xmlns:a="http://schemas.openxmlformats.org/drawingml/2006/main">
              <a:ext uri="{FF2B5EF4-FFF2-40B4-BE49-F238E27FC236}">
                <a16:creationId xmlns:a16="http://schemas.microsoft.com/office/drawing/2014/main" id="{157FA133-CFF0-4996-8358-7440727F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76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D6DDC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6DDCF"/>
                </a:solidFill>
                <a:latin typeface="Arial"/>
                <a:ea typeface="Arial"/>
                <a:cs typeface="Arial"/>
              </a:rPr>
              <a:t>THE PRODUCT MOMENT</a:t>
            </a:r>
          </a:p>
        </p:txBody>
      </p:sp>
      <p:sp>
        <p:nvSpPr>
          <p:cNvPr id="6" name="task-title">
            <a:extLst xmlns:a="http://schemas.openxmlformats.org/drawingml/2006/main">
              <a:ext uri="{FF2B5EF4-FFF2-40B4-BE49-F238E27FC236}">
                <a16:creationId xmlns:a16="http://schemas.microsoft.com/office/drawing/2014/main" id="{F0C51098-E2CE-4610-9ABB-A02374C8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525" b="1" i="0">
                <a:solidFill>
                  <a:srgbClr val="FFFAF2"/>
                </a:solidFill>
                <a:latin typeface="Georgia"/>
                <a:ea typeface="Georgia"/>
                <a:cs typeface="Georgia"/>
              </a:defRPr>
            </a:pPr>
            <a:r>
              <a:rPr sz="3525" b="1" i="0">
                <a:solidFill>
                  <a:srgbClr val="FFFAF2"/>
                </a:solidFill>
                <a:latin typeface="Georgia"/>
                <a:ea typeface="Georgia"/>
                <a:cs typeface="Georgia"/>
              </a:rPr>
              <a:t>The task determines the route.</a:t>
            </a:r>
          </a:p>
        </p:txBody>
      </p:sp>
      <p:sp>
        <p:nvSpPr>
          <p:cNvPr id="7" name="task-flow">
            <a:extLst xmlns:a="http://schemas.openxmlformats.org/drawingml/2006/main">
              <a:ext uri="{FF2B5EF4-FFF2-40B4-BE49-F238E27FC236}">
                <a16:creationId xmlns:a16="http://schemas.microsoft.com/office/drawing/2014/main" id="{552C4108-03A4-4B2F-8784-1ACD96C8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D6DDC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D6DDCF"/>
                </a:solidFill>
                <a:latin typeface="Arial"/>
                <a:ea typeface="Arial"/>
                <a:cs typeface="Arial"/>
              </a:rPr>
              <a:t>Task brief  →  Gemini intent  →  validated policy  →  deterministic route</a:t>
            </a:r>
          </a:p>
        </p:txBody>
      </p:sp>
      <p:sp>
        <p:nvSpPr>
          <p:cNvPr id="8" name="task-left-mode">
            <a:extLst xmlns:a="http://schemas.openxmlformats.org/drawingml/2006/main">
              <a:ext uri="{FF2B5EF4-FFF2-40B4-BE49-F238E27FC236}">
                <a16:creationId xmlns:a16="http://schemas.microsoft.com/office/drawing/2014/main" id="{9845908C-B3FD-4FBF-B09F-121B5A2B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D9795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97954"/>
                </a:solidFill>
                <a:latin typeface="Arial"/>
                <a:ea typeface="Arial"/>
                <a:cs typeface="Arial"/>
              </a:rPr>
              <a:t>INTERACTIVE</a:t>
            </a:r>
          </a:p>
        </p:txBody>
      </p:sp>
      <p:sp>
        <p:nvSpPr>
          <p:cNvPr id="9" name="task-left-quote">
            <a:extLst xmlns:a="http://schemas.openxmlformats.org/drawingml/2006/main">
              <a:ext uri="{FF2B5EF4-FFF2-40B4-BE49-F238E27FC236}">
                <a16:creationId xmlns:a16="http://schemas.microsoft.com/office/drawing/2014/main" id="{F453E867-4D1C-4547-8615-05B1600E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457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300" b="1" i="0">
                <a:solidFill>
                  <a:srgbClr val="14271D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14271D"/>
                </a:solidFill>
                <a:latin typeface="Georgia"/>
                <a:ea typeface="Georgia"/>
                <a:cs typeface="Georgia"/>
              </a:rPr>
              <a:t>“Fix this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300" b="1" i="0">
                <a:solidFill>
                  <a:srgbClr val="14271D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14271D"/>
                </a:solidFill>
                <a:latin typeface="Georgia"/>
                <a:ea typeface="Georgia"/>
                <a:cs typeface="Georgia"/>
              </a:rPr>
              <a:t>with me.”</a:t>
            </a:r>
          </a:p>
        </p:txBody>
      </p:sp>
      <p:sp>
        <p:nvSpPr>
          <p:cNvPr id="10" name="task-left-policy-label">
            <a:extLst xmlns:a="http://schemas.openxmlformats.org/drawingml/2006/main">
              <a:ext uri="{FF2B5EF4-FFF2-40B4-BE49-F238E27FC236}">
                <a16:creationId xmlns:a16="http://schemas.microsoft.com/office/drawing/2014/main" id="{6058C4E8-A082-4C10-8BB1-5B49D83F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437C6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37C69"/>
                </a:solidFill>
                <a:latin typeface="Arial"/>
                <a:ea typeface="Arial"/>
                <a:cs typeface="Arial"/>
              </a:rPr>
              <a:t>CURRENT POLICY</a:t>
            </a:r>
          </a:p>
        </p:txBody>
      </p:sp>
      <p:sp>
        <p:nvSpPr>
          <p:cNvPr id="11" name="task-left-policy">
            <a:extLst xmlns:a="http://schemas.openxmlformats.org/drawingml/2006/main">
              <a:ext uri="{FF2B5EF4-FFF2-40B4-BE49-F238E27FC236}">
                <a16:creationId xmlns:a16="http://schemas.microsoft.com/office/drawing/2014/main" id="{ED82BA00-5655-47A2-8201-A0A2C8A1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4629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 i="0">
                <a:solidFill>
                  <a:srgbClr val="14271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4271D"/>
                </a:solidFill>
                <a:latin typeface="Arial"/>
                <a:ea typeface="Arial"/>
                <a:cs typeface="Arial"/>
              </a:rPr>
              <a:t>Fastest available model in the high coding tier—ranked by p50 throughput.</a:t>
            </a:r>
          </a:p>
        </p:txBody>
      </p:sp>
      <p:sp>
        <p:nvSpPr>
          <p:cNvPr id="12" name="task-right-mode">
            <a:extLst xmlns:a="http://schemas.openxmlformats.org/drawingml/2006/main">
              <a:ext uri="{FF2B5EF4-FFF2-40B4-BE49-F238E27FC236}">
                <a16:creationId xmlns:a16="http://schemas.microsoft.com/office/drawing/2014/main" id="{BE837E0E-4D24-4DFC-BB55-0B1706EF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62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14271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4271D"/>
                </a:solidFill>
                <a:latin typeface="Arial"/>
                <a:ea typeface="Arial"/>
                <a:cs typeface="Arial"/>
              </a:rPr>
              <a:t>DELEGATED</a:t>
            </a:r>
          </a:p>
        </p:txBody>
      </p:sp>
      <p:sp>
        <p:nvSpPr>
          <p:cNvPr id="13" name="task-right-quote">
            <a:extLst xmlns:a="http://schemas.openxmlformats.org/drawingml/2006/main">
              <a:ext uri="{FF2B5EF4-FFF2-40B4-BE49-F238E27FC236}">
                <a16:creationId xmlns:a16="http://schemas.microsoft.com/office/drawing/2014/main" id="{0B577A93-B50E-40DC-B0C6-54C191AE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76550"/>
            <a:ext cx="457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300" b="1" i="0">
                <a:solidFill>
                  <a:srgbClr val="14271D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14271D"/>
                </a:solidFill>
                <a:latin typeface="Georgia"/>
                <a:ea typeface="Georgia"/>
                <a:cs typeface="Georgia"/>
              </a:rPr>
              <a:t>“Migrate this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300" b="1" i="0">
                <a:solidFill>
                  <a:srgbClr val="14271D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14271D"/>
                </a:solidFill>
                <a:latin typeface="Georgia"/>
                <a:ea typeface="Georgia"/>
                <a:cs typeface="Georgia"/>
              </a:rPr>
              <a:t>overnight.”</a:t>
            </a:r>
          </a:p>
        </p:txBody>
      </p:sp>
      <p:sp>
        <p:nvSpPr>
          <p:cNvPr id="14" name="task-right-policy-label">
            <a:extLst xmlns:a="http://schemas.openxmlformats.org/drawingml/2006/main">
              <a:ext uri="{FF2B5EF4-FFF2-40B4-BE49-F238E27FC236}">
                <a16:creationId xmlns:a16="http://schemas.microsoft.com/office/drawing/2014/main" id="{7B726185-75A5-4691-ABE3-8CCE4854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624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D97954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97954"/>
                </a:solidFill>
                <a:latin typeface="Arial"/>
                <a:ea typeface="Arial"/>
                <a:cs typeface="Arial"/>
              </a:rPr>
              <a:t>CURRENT POLICY</a:t>
            </a:r>
          </a:p>
        </p:txBody>
      </p:sp>
      <p:sp>
        <p:nvSpPr>
          <p:cNvPr id="15" name="task-right-policy">
            <a:extLst xmlns:a="http://schemas.openxmlformats.org/drawingml/2006/main">
              <a:ext uri="{FF2B5EF4-FFF2-40B4-BE49-F238E27FC236}">
                <a16:creationId xmlns:a16="http://schemas.microsoft.com/office/drawing/2014/main" id="{180DBC46-BC79-4A57-A6ED-DA75F50B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24400"/>
            <a:ext cx="4629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 i="0">
                <a:solidFill>
                  <a:srgbClr val="14271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4271D"/>
                </a:solidFill>
                <a:latin typeface="Arial"/>
                <a:ea typeface="Arial"/>
                <a:cs typeface="Arial"/>
              </a:rPr>
              <a:t>Cheapest available model in the high coding tier.</a:t>
            </a:r>
          </a:p>
        </p:txBody>
      </p:sp>
      <p:sp>
        <p:nvSpPr>
          <p:cNvPr id="16" name="footer-brand-4">
            <a:extLst xmlns:a="http://schemas.openxmlformats.org/drawingml/2006/main">
              <a:ext uri="{FF2B5EF4-FFF2-40B4-BE49-F238E27FC236}">
                <a16:creationId xmlns:a16="http://schemas.microsoft.com/office/drawing/2014/main" id="{68A71957-55E5-4B17-B5AD-9D166C36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D6DDC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6DDCF"/>
                </a:solidFill>
                <a:latin typeface="Arial"/>
                <a:ea typeface="Arial"/>
                <a:cs typeface="Arial"/>
              </a:rPr>
              <a:t>FRONTIER MAX</a:t>
            </a:r>
          </a:p>
        </p:txBody>
      </p:sp>
      <p:sp>
        <p:nvSpPr>
          <p:cNvPr id="17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14AEF3C4-C412-46D4-9EE7-08BDE4E6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D6DDC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6DDC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166754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usiness-eyebrow-rule">
            <a:extLst xmlns:a="http://schemas.openxmlformats.org/drawingml/2006/main">
              <a:ext uri="{FF2B5EF4-FFF2-40B4-BE49-F238E27FC236}">
                <a16:creationId xmlns:a16="http://schemas.microsoft.com/office/drawing/2014/main" id="{6D7FE31B-F592-4E06-B687-BFB26929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3238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9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usiness-eyebrow">
            <a:extLst xmlns:a="http://schemas.openxmlformats.org/drawingml/2006/main">
              <a:ext uri="{FF2B5EF4-FFF2-40B4-BE49-F238E27FC236}">
                <a16:creationId xmlns:a16="http://schemas.microsoft.com/office/drawing/2014/main" id="{165C603A-DABC-4963-982F-F8F891FA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76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B756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B756E"/>
                </a:solidFill>
                <a:latin typeface="Arial"/>
                <a:ea typeface="Arial"/>
                <a:cs typeface="Arial"/>
              </a:rPr>
              <a:t>THE BUSINESS</a:t>
            </a:r>
          </a:p>
        </p:txBody>
      </p:sp>
      <p:sp>
        <p:nvSpPr>
          <p:cNvPr id="3" name="business-title">
            <a:extLst xmlns:a="http://schemas.openxmlformats.org/drawingml/2006/main">
              <a:ext uri="{FF2B5EF4-FFF2-40B4-BE49-F238E27FC236}">
                <a16:creationId xmlns:a16="http://schemas.microsoft.com/office/drawing/2014/main" id="{EBE47C8C-6A2F-4649-8939-8D9E33FB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 i="0">
                <a:solidFill>
                  <a:srgbClr val="14271D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14271D"/>
                </a:solidFill>
                <a:latin typeface="Georgia"/>
                <a:ea typeface="Georgia"/>
                <a:cs typeface="Georgia"/>
              </a:rPr>
              <a:t>Free evidence earns trust. Decisions capture value.</a:t>
            </a:r>
          </a:p>
        </p:txBody>
      </p:sp>
      <p:sp>
        <p:nvSpPr>
          <p:cNvPr id="4" name="business-top-rule-0">
            <a:extLst xmlns:a="http://schemas.openxmlformats.org/drawingml/2006/main">
              <a:ext uri="{FF2B5EF4-FFF2-40B4-BE49-F238E27FC236}">
                <a16:creationId xmlns:a16="http://schemas.microsoft.com/office/drawing/2014/main" id="{6D88BA93-2963-4D9F-AB08-75FEFC18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95275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979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usiness-tier-0">
            <a:extLst xmlns:a="http://schemas.openxmlformats.org/drawingml/2006/main">
              <a:ext uri="{FF2B5EF4-FFF2-40B4-BE49-F238E27FC236}">
                <a16:creationId xmlns:a16="http://schemas.microsoft.com/office/drawing/2014/main" id="{794D4D76-5C94-49C4-BBB8-0A2154E5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D9795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97954"/>
                </a:solidFill>
                <a:latin typeface="Arial"/>
                <a:ea typeface="Arial"/>
                <a:cs typeface="Arial"/>
              </a:rPr>
              <a:t>FREE</a:t>
            </a:r>
          </a:p>
        </p:txBody>
      </p:sp>
      <p:sp>
        <p:nvSpPr>
          <p:cNvPr id="6" name="business-title-0">
            <a:extLst xmlns:a="http://schemas.openxmlformats.org/drawingml/2006/main">
              <a:ext uri="{FF2B5EF4-FFF2-40B4-BE49-F238E27FC236}">
                <a16:creationId xmlns:a16="http://schemas.microsoft.com/office/drawing/2014/main" id="{D27B24F2-595C-4364-A8C0-FB8C9D84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14271D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14271D"/>
                </a:solidFill>
                <a:latin typeface="Georgia"/>
                <a:ea typeface="Georgia"/>
                <a:cs typeface="Georgia"/>
              </a:rPr>
              <a:t>Evidence + CLI</a:t>
            </a:r>
          </a:p>
        </p:txBody>
      </p:sp>
      <p:sp>
        <p:nvSpPr>
          <p:cNvPr id="7" name="business-body-0">
            <a:extLst xmlns:a="http://schemas.openxmlformats.org/drawingml/2006/main">
              <a:ext uri="{FF2B5EF4-FFF2-40B4-BE49-F238E27FC236}">
                <a16:creationId xmlns:a16="http://schemas.microsoft.com/office/drawing/2014/main" id="{CED835B0-90C8-4C10-89BA-9D58C155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295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6B756E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B756E"/>
                </a:solidFill>
                <a:latin typeface="Arial"/>
                <a:ea typeface="Arial"/>
                <a:cs typeface="Arial"/>
              </a:rPr>
              <a:t>Explore benchmark provenance and launch a local route.</a:t>
            </a:r>
          </a:p>
        </p:txBody>
      </p:sp>
      <p:sp>
        <p:nvSpPr>
          <p:cNvPr id="8" name="business-top-rule-1">
            <a:extLst xmlns:a="http://schemas.openxmlformats.org/drawingml/2006/main">
              <a:ext uri="{FF2B5EF4-FFF2-40B4-BE49-F238E27FC236}">
                <a16:creationId xmlns:a16="http://schemas.microsoft.com/office/drawing/2014/main" id="{BB0BACC0-03FE-4BCE-AD67-1BF77F52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62200"/>
            <a:ext cx="321945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437C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siness-tier-1">
            <a:extLst xmlns:a="http://schemas.openxmlformats.org/drawingml/2006/main">
              <a:ext uri="{FF2B5EF4-FFF2-40B4-BE49-F238E27FC236}">
                <a16:creationId xmlns:a16="http://schemas.microsoft.com/office/drawing/2014/main" id="{59D6C5CE-3415-478C-B737-0D12AF21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28900"/>
            <a:ext cx="321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437C69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37C69"/>
                </a:solidFill>
                <a:latin typeface="Arial"/>
                <a:ea typeface="Arial"/>
                <a:cs typeface="Arial"/>
              </a:rPr>
              <a:t>PAID</a:t>
            </a:r>
          </a:p>
        </p:txBody>
      </p:sp>
      <p:sp>
        <p:nvSpPr>
          <p:cNvPr id="10" name="business-title-1">
            <a:extLst xmlns:a="http://schemas.openxmlformats.org/drawingml/2006/main">
              <a:ext uri="{FF2B5EF4-FFF2-40B4-BE49-F238E27FC236}">
                <a16:creationId xmlns:a16="http://schemas.microsoft.com/office/drawing/2014/main" id="{108C9C12-CAF6-4208-A535-95BDF513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05150"/>
            <a:ext cx="321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14271D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14271D"/>
                </a:solidFill>
                <a:latin typeface="Georgia"/>
                <a:ea typeface="Georgia"/>
                <a:cs typeface="Georgia"/>
              </a:rPr>
              <a:t>Team workspace</a:t>
            </a:r>
          </a:p>
        </p:txBody>
      </p:sp>
      <p:sp>
        <p:nvSpPr>
          <p:cNvPr id="11" name="business-body-1">
            <a:extLst xmlns:a="http://schemas.openxmlformats.org/drawingml/2006/main">
              <a:ext uri="{FF2B5EF4-FFF2-40B4-BE49-F238E27FC236}">
                <a16:creationId xmlns:a16="http://schemas.microsoft.com/office/drawing/2014/main" id="{187373FB-69E3-4F04-B1EE-52420858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29050"/>
            <a:ext cx="321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6B756E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B756E"/>
                </a:solidFill>
                <a:latin typeface="Arial"/>
                <a:ea typeface="Arial"/>
                <a:cs typeface="Arial"/>
              </a:rPr>
              <a:t>Share policies, alerts, and decision receipts.</a:t>
            </a:r>
          </a:p>
        </p:txBody>
      </p:sp>
      <p:sp>
        <p:nvSpPr>
          <p:cNvPr id="12" name="business-top-rule-2">
            <a:extLst xmlns:a="http://schemas.openxmlformats.org/drawingml/2006/main">
              <a:ext uri="{FF2B5EF4-FFF2-40B4-BE49-F238E27FC236}">
                <a16:creationId xmlns:a16="http://schemas.microsoft.com/office/drawing/2014/main" id="{5A9DC057-56A3-4EA8-9E7D-6E7C99B1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62200"/>
            <a:ext cx="369570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B48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siness-tier-2">
            <a:extLst xmlns:a="http://schemas.openxmlformats.org/drawingml/2006/main">
              <a:ext uri="{FF2B5EF4-FFF2-40B4-BE49-F238E27FC236}">
                <a16:creationId xmlns:a16="http://schemas.microsoft.com/office/drawing/2014/main" id="{36D9D593-3C13-4DE8-BC39-B3283D31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28900"/>
            <a:ext cx="3695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B48A3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48A35"/>
                </a:solidFill>
                <a:latin typeface="Arial"/>
                <a:ea typeface="Arial"/>
                <a:cs typeface="Arial"/>
              </a:rPr>
              <a:t>PAID</a:t>
            </a:r>
          </a:p>
        </p:txBody>
      </p:sp>
      <p:sp>
        <p:nvSpPr>
          <p:cNvPr id="14" name="business-title-2">
            <a:extLst xmlns:a="http://schemas.openxmlformats.org/drawingml/2006/main">
              <a:ext uri="{FF2B5EF4-FFF2-40B4-BE49-F238E27FC236}">
                <a16:creationId xmlns:a16="http://schemas.microsoft.com/office/drawing/2014/main" id="{D552B5B3-314A-4B24-9B4D-00E6C91E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05150"/>
            <a:ext cx="369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14271D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14271D"/>
                </a:solidFill>
                <a:latin typeface="Georgia"/>
                <a:ea typeface="Georgia"/>
                <a:cs typeface="Georgia"/>
              </a:rPr>
              <a:t>Routing API</a:t>
            </a:r>
          </a:p>
        </p:txBody>
      </p:sp>
      <p:sp>
        <p:nvSpPr>
          <p:cNvPr id="15" name="business-body-2">
            <a:extLst xmlns:a="http://schemas.openxmlformats.org/drawingml/2006/main">
              <a:ext uri="{FF2B5EF4-FFF2-40B4-BE49-F238E27FC236}">
                <a16:creationId xmlns:a16="http://schemas.microsoft.com/office/drawing/2014/main" id="{3FE756D0-B3EE-4D60-9CCB-ED64750B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29050"/>
            <a:ext cx="3695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6B756E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B756E"/>
                </a:solidFill>
                <a:latin typeface="Arial"/>
                <a:ea typeface="Arial"/>
                <a:cs typeface="Arial"/>
              </a:rPr>
              <a:t>Apply governance and model selection in production.</a:t>
            </a:r>
          </a:p>
        </p:txBody>
      </p:sp>
      <p:sp>
        <p:nvSpPr>
          <p:cNvPr id="16" name="business-buyer-band">
            <a:extLst xmlns:a="http://schemas.openxmlformats.org/drawingml/2006/main">
              <a:ext uri="{FF2B5EF4-FFF2-40B4-BE49-F238E27FC236}">
                <a16:creationId xmlns:a16="http://schemas.microsoft.com/office/drawing/2014/main" id="{9AD32EB0-C35C-4DB3-A2E0-5B883A63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8585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1427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siness-buyer-label">
            <a:extLst xmlns:a="http://schemas.openxmlformats.org/drawingml/2006/main">
              <a:ext uri="{FF2B5EF4-FFF2-40B4-BE49-F238E27FC236}">
                <a16:creationId xmlns:a16="http://schemas.microsoft.com/office/drawing/2014/main" id="{D045D9E2-05F9-46DA-8BE6-78303911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0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D97954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97954"/>
                </a:solidFill>
                <a:latin typeface="Arial"/>
                <a:ea typeface="Arial"/>
                <a:cs typeface="Arial"/>
              </a:rPr>
              <a:t>INITIAL BUYER</a:t>
            </a:r>
          </a:p>
        </p:txBody>
      </p:sp>
      <p:sp>
        <p:nvSpPr>
          <p:cNvPr id="18" name="business-buyer">
            <a:extLst xmlns:a="http://schemas.openxmlformats.org/drawingml/2006/main">
              <a:ext uri="{FF2B5EF4-FFF2-40B4-BE49-F238E27FC236}">
                <a16:creationId xmlns:a16="http://schemas.microsoft.com/office/drawing/2014/main" id="{37E6D4B9-88F8-4398-938A-13B0F4BE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91150"/>
            <a:ext cx="847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75" b="1" i="0">
                <a:solidFill>
                  <a:srgbClr val="FFFAF2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AF2"/>
                </a:solidFill>
                <a:latin typeface="Arial"/>
                <a:ea typeface="Arial"/>
                <a:cs typeface="Arial"/>
              </a:rPr>
              <a:t>AI platform  ·  engineering  ·  FinOps teams operating multiple models</a:t>
            </a:r>
          </a:p>
        </p:txBody>
      </p:sp>
      <p:sp>
        <p:nvSpPr>
          <p:cNvPr id="19" name="business-wedge">
            <a:extLst xmlns:a="http://schemas.openxmlformats.org/drawingml/2006/main">
              <a:ext uri="{FF2B5EF4-FFF2-40B4-BE49-F238E27FC236}">
                <a16:creationId xmlns:a16="http://schemas.microsoft.com/office/drawing/2014/main" id="{A830ECB5-F542-4B20-A2CB-16EFAFA5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715000"/>
            <a:ext cx="847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 i="0">
                <a:solidFill>
                  <a:srgbClr val="D6DDC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D6DDCF"/>
                </a:solidFill>
                <a:latin typeface="Arial"/>
                <a:ea typeface="Arial"/>
                <a:cs typeface="Arial"/>
              </a:rPr>
              <a:t>First wedge: coding-agent model selection</a:t>
            </a:r>
          </a:p>
        </p:txBody>
      </p:sp>
      <p:sp>
        <p:nvSpPr>
          <p:cNvPr id="20" name="footer-brand-5">
            <a:extLst xmlns:a="http://schemas.openxmlformats.org/drawingml/2006/main">
              <a:ext uri="{FF2B5EF4-FFF2-40B4-BE49-F238E27FC236}">
                <a16:creationId xmlns:a16="http://schemas.microsoft.com/office/drawing/2014/main" id="{A42A6749-5BEF-4390-81A3-7A52CA87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6B756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B756E"/>
                </a:solidFill>
                <a:latin typeface="Arial"/>
                <a:ea typeface="Arial"/>
                <a:cs typeface="Arial"/>
              </a:rPr>
              <a:t>FRONTIER MAX</a:t>
            </a:r>
          </a:p>
        </p:txBody>
      </p:sp>
      <p:sp>
        <p:nvSpPr>
          <p:cNvPr id="21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29FD2063-FEA2-49F9-BC84-077484FB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B756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B756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298318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427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e-paper-field">
            <a:extLst xmlns:a="http://schemas.openxmlformats.org/drawingml/2006/main">
              <a:ext uri="{FF2B5EF4-FFF2-40B4-BE49-F238E27FC236}">
                <a16:creationId xmlns:a16="http://schemas.microsoft.com/office/drawing/2014/main" id="{CDDDFFF3-6FB6-4840-8282-7E5C1192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0"/>
            <a:ext cx="4438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e-clay-stripe">
            <a:extLst xmlns:a="http://schemas.openxmlformats.org/drawingml/2006/main">
              <a:ext uri="{FF2B5EF4-FFF2-40B4-BE49-F238E27FC236}">
                <a16:creationId xmlns:a16="http://schemas.microsoft.com/office/drawing/2014/main" id="{316376B3-AD73-42FB-A6AE-0E76CED6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lose-eyebrow-rule">
            <a:extLst xmlns:a="http://schemas.openxmlformats.org/drawingml/2006/main">
              <a:ext uri="{FF2B5EF4-FFF2-40B4-BE49-F238E27FC236}">
                <a16:creationId xmlns:a16="http://schemas.microsoft.com/office/drawing/2014/main" id="{62CEE7EA-BE02-45FF-84EA-ECB243C7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3238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9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C0D89EBF-3F84-4516-8919-47E6C9F8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76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D6DDC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6DDCF"/>
                </a:solidFill>
                <a:latin typeface="Arial"/>
                <a:ea typeface="Arial"/>
                <a:cs typeface="Arial"/>
              </a:rPr>
              <a:t>THE ASK</a:t>
            </a:r>
          </a:p>
        </p:txBody>
      </p:sp>
      <p:sp>
        <p:nvSpPr>
          <p:cNvPr id="5" name="close-title">
            <a:extLst xmlns:a="http://schemas.openxmlformats.org/drawingml/2006/main">
              <a:ext uri="{FF2B5EF4-FFF2-40B4-BE49-F238E27FC236}">
                <a16:creationId xmlns:a16="http://schemas.microsoft.com/office/drawing/2014/main" id="{52CB3B3F-140A-48E0-AD13-B9BFBEFE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61150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975" b="1" i="0">
                <a:solidFill>
                  <a:srgbClr val="FFFAF2"/>
                </a:solidFill>
                <a:latin typeface="Georgia"/>
                <a:ea typeface="Georgia"/>
                <a:cs typeface="Georgia"/>
              </a:defRPr>
            </a:pPr>
            <a:r>
              <a:rPr sz="3975" b="1" i="0">
                <a:solidFill>
                  <a:srgbClr val="FFFAF2"/>
                </a:solidFill>
                <a:latin typeface="Georgia"/>
                <a:ea typeface="Georgia"/>
                <a:cs typeface="Georgia"/>
              </a:rPr>
              <a:t>Make every benchmark a decision teams can execute.</a:t>
            </a:r>
          </a:p>
        </p:txBody>
      </p:sp>
      <p:sp>
        <p:nvSpPr>
          <p:cNvPr id="6" name="close-subtitle">
            <a:extLst xmlns:a="http://schemas.openxmlformats.org/drawingml/2006/main">
              <a:ext uri="{FF2B5EF4-FFF2-40B4-BE49-F238E27FC236}">
                <a16:creationId xmlns:a16="http://schemas.microsoft.com/office/drawing/2014/main" id="{841AAE68-5EF9-4C33-87C1-B59437E5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581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BFD0C2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BFD0C2"/>
                </a:solidFill>
                <a:latin typeface="Arial"/>
                <a:ea typeface="Arial"/>
                <a:cs typeface="Arial"/>
              </a:rPr>
              <a:t>The decision + provenance layer for model selection.</a:t>
            </a:r>
          </a:p>
        </p:txBody>
      </p:sp>
      <p:sp>
        <p:nvSpPr>
          <p:cNvPr id="7" name="close-team-label">
            <a:extLst xmlns:a="http://schemas.openxmlformats.org/drawingml/2006/main">
              <a:ext uri="{FF2B5EF4-FFF2-40B4-BE49-F238E27FC236}">
                <a16:creationId xmlns:a16="http://schemas.microsoft.com/office/drawing/2014/main" id="{DE21504B-C735-4C3D-9779-24E2CFE1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D97954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97954"/>
                </a:solidFill>
                <a:latin typeface="Arial"/>
                <a:ea typeface="Arial"/>
                <a:cs typeface="Arial"/>
              </a:rPr>
              <a:t>BUILT BY</a:t>
            </a:r>
          </a:p>
        </p:txBody>
      </p:sp>
      <p:sp>
        <p:nvSpPr>
          <p:cNvPr id="8" name="close-team">
            <a:extLst xmlns:a="http://schemas.openxmlformats.org/drawingml/2006/main">
              <a:ext uri="{FF2B5EF4-FFF2-40B4-BE49-F238E27FC236}">
                <a16:creationId xmlns:a16="http://schemas.microsoft.com/office/drawing/2014/main" id="{0E3808EF-71B2-4F7B-829A-74ED2264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625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AF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AF2"/>
                </a:solidFill>
                <a:latin typeface="Arial"/>
                <a:ea typeface="Arial"/>
                <a:cs typeface="Arial"/>
              </a:rPr>
              <a:t>Monil Patel  ·  Staff Applied AI  ·  7 years at Meta</a:t>
            </a:r>
          </a:p>
        </p:txBody>
      </p:sp>
      <p:sp>
        <p:nvSpPr>
          <p:cNvPr id="9" name="close-team-detail">
            <a:extLst xmlns:a="http://schemas.openxmlformats.org/drawingml/2006/main">
              <a:ext uri="{FF2B5EF4-FFF2-40B4-BE49-F238E27FC236}">
                <a16:creationId xmlns:a16="http://schemas.microsoft.com/office/drawing/2014/main" id="{D4BB8C25-E5EB-4551-9E71-78F8A92B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D6DDC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6DDCF"/>
                </a:solidFill>
                <a:latin typeface="Arial"/>
                <a:ea typeface="Arial"/>
                <a:cs typeface="Arial"/>
              </a:rPr>
              <a:t>Evaluation · post-training · coding-agent systems</a:t>
            </a:r>
          </a:p>
        </p:txBody>
      </p:sp>
      <p:sp>
        <p:nvSpPr>
          <p:cNvPr id="10" name="close-right-label">
            <a:extLst xmlns:a="http://schemas.openxmlformats.org/drawingml/2006/main">
              <a:ext uri="{FF2B5EF4-FFF2-40B4-BE49-F238E27FC236}">
                <a16:creationId xmlns:a16="http://schemas.microsoft.com/office/drawing/2014/main" id="{59A11DA9-A528-4CD8-9885-6D1B452D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0858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D9795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97954"/>
                </a:solidFill>
                <a:latin typeface="Arial"/>
                <a:ea typeface="Arial"/>
                <a:cs typeface="Arial"/>
              </a:rPr>
              <a:t>WE’RE LOOKING FOR</a:t>
            </a:r>
          </a:p>
        </p:txBody>
      </p:sp>
      <p:sp>
        <p:nvSpPr>
          <p:cNvPr id="11" name="close-ask-num-0">
            <a:extLst xmlns:a="http://schemas.openxmlformats.org/drawingml/2006/main">
              <a:ext uri="{FF2B5EF4-FFF2-40B4-BE49-F238E27FC236}">
                <a16:creationId xmlns:a16="http://schemas.microsoft.com/office/drawing/2014/main" id="{2494C891-0B3A-40D4-8127-0E24DDF1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145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437C69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437C69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12" name="close-ask-heading-0">
            <a:extLst xmlns:a="http://schemas.openxmlformats.org/drawingml/2006/main">
              <a:ext uri="{FF2B5EF4-FFF2-40B4-BE49-F238E27FC236}">
                <a16:creationId xmlns:a16="http://schemas.microsoft.com/office/drawing/2014/main" id="{1522CEE1-92A5-477B-9C72-9020F09F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1450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14271D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14271D"/>
                </a:solidFill>
                <a:latin typeface="Georgia"/>
                <a:ea typeface="Georgia"/>
                <a:cs typeface="Georgia"/>
              </a:rPr>
              <a:t>design partners</a:t>
            </a:r>
          </a:p>
        </p:txBody>
      </p:sp>
      <p:sp>
        <p:nvSpPr>
          <p:cNvPr id="13" name="close-ask-detail-0">
            <a:extLst xmlns:a="http://schemas.openxmlformats.org/drawingml/2006/main">
              <a:ext uri="{FF2B5EF4-FFF2-40B4-BE49-F238E27FC236}">
                <a16:creationId xmlns:a16="http://schemas.microsoft.com/office/drawing/2014/main" id="{0BA61ADE-A062-4102-B9F3-AEBD7467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14550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B756E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B756E"/>
                </a:solidFill>
                <a:latin typeface="Arial"/>
                <a:ea typeface="Arial"/>
                <a:cs typeface="Arial"/>
              </a:rPr>
              <a:t>Costly multi-model workflows</a:t>
            </a:r>
          </a:p>
        </p:txBody>
      </p:sp>
      <p:sp>
        <p:nvSpPr>
          <p:cNvPr id="14" name="close-ask-rule-0">
            <a:extLst xmlns:a="http://schemas.openxmlformats.org/drawingml/2006/main">
              <a:ext uri="{FF2B5EF4-FFF2-40B4-BE49-F238E27FC236}">
                <a16:creationId xmlns:a16="http://schemas.microsoft.com/office/drawing/2014/main" id="{FBB8D6B8-2072-4228-9556-C95D0136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0510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2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lose-ask-num-1">
            <a:extLst xmlns:a="http://schemas.openxmlformats.org/drawingml/2006/main">
              <a:ext uri="{FF2B5EF4-FFF2-40B4-BE49-F238E27FC236}">
                <a16:creationId xmlns:a16="http://schemas.microsoft.com/office/drawing/2014/main" id="{209138C1-4DD4-4FCC-BFBD-6F6A665D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718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437C69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437C69"/>
                </a:solidFill>
                <a:latin typeface="Georgia"/>
                <a:ea typeface="Georgia"/>
                <a:cs typeface="Georgia"/>
              </a:rPr>
              <a:t>GCP</a:t>
            </a:r>
          </a:p>
        </p:txBody>
      </p:sp>
      <p:sp>
        <p:nvSpPr>
          <p:cNvPr id="16" name="close-ask-heading-1">
            <a:extLst xmlns:a="http://schemas.openxmlformats.org/drawingml/2006/main">
              <a:ext uri="{FF2B5EF4-FFF2-40B4-BE49-F238E27FC236}">
                <a16:creationId xmlns:a16="http://schemas.microsoft.com/office/drawing/2014/main" id="{906587FC-74E1-4738-A123-DF592F4C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7180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14271D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14271D"/>
                </a:solidFill>
                <a:latin typeface="Georgia"/>
                <a:ea typeface="Georgia"/>
                <a:cs typeface="Georgia"/>
              </a:rPr>
              <a:t>product support</a:t>
            </a:r>
          </a:p>
        </p:txBody>
      </p:sp>
      <p:sp>
        <p:nvSpPr>
          <p:cNvPr id="17" name="close-ask-detail-1">
            <a:extLst xmlns:a="http://schemas.openxmlformats.org/drawingml/2006/main">
              <a:ext uri="{FF2B5EF4-FFF2-40B4-BE49-F238E27FC236}">
                <a16:creationId xmlns:a16="http://schemas.microsoft.com/office/drawing/2014/main" id="{84EC311E-D3A9-4EAF-BD35-5161CA18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371850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B756E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B756E"/>
                </a:solidFill>
                <a:latin typeface="Arial"/>
                <a:ea typeface="Arial"/>
                <a:cs typeface="Arial"/>
              </a:rPr>
              <a:t>Gemini decision layer</a:t>
            </a:r>
          </a:p>
        </p:txBody>
      </p:sp>
      <p:sp>
        <p:nvSpPr>
          <p:cNvPr id="18" name="close-ask-rule-1">
            <a:extLst xmlns:a="http://schemas.openxmlformats.org/drawingml/2006/main">
              <a:ext uri="{FF2B5EF4-FFF2-40B4-BE49-F238E27FC236}">
                <a16:creationId xmlns:a16="http://schemas.microsoft.com/office/drawing/2014/main" id="{963A5CD1-44EA-4C2B-88C9-BCB8332E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6240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2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lose-ask-num-2">
            <a:extLst xmlns:a="http://schemas.openxmlformats.org/drawingml/2006/main">
              <a:ext uri="{FF2B5EF4-FFF2-40B4-BE49-F238E27FC236}">
                <a16:creationId xmlns:a16="http://schemas.microsoft.com/office/drawing/2014/main" id="{505A63DB-4120-4FBA-A9A0-89B53916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291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437C69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437C69"/>
                </a:solidFill>
                <a:latin typeface="Georgia"/>
                <a:ea typeface="Georgia"/>
                <a:cs typeface="Georgia"/>
              </a:rPr>
              <a:t>VC</a:t>
            </a:r>
          </a:p>
        </p:txBody>
      </p:sp>
      <p:sp>
        <p:nvSpPr>
          <p:cNvPr id="20" name="close-ask-heading-2">
            <a:extLst xmlns:a="http://schemas.openxmlformats.org/drawingml/2006/main">
              <a:ext uri="{FF2B5EF4-FFF2-40B4-BE49-F238E27FC236}">
                <a16:creationId xmlns:a16="http://schemas.microsoft.com/office/drawing/2014/main" id="{FFC6F173-AA93-4D29-BD9F-2F9C13C2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22910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14271D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14271D"/>
                </a:solidFill>
                <a:latin typeface="Georgia"/>
                <a:ea typeface="Georgia"/>
                <a:cs typeface="Georgia"/>
              </a:rPr>
              <a:t>investor partners</a:t>
            </a:r>
          </a:p>
        </p:txBody>
      </p:sp>
      <p:sp>
        <p:nvSpPr>
          <p:cNvPr id="21" name="close-ask-detail-2">
            <a:extLst xmlns:a="http://schemas.openxmlformats.org/drawingml/2006/main">
              <a:ext uri="{FF2B5EF4-FFF2-40B4-BE49-F238E27FC236}">
                <a16:creationId xmlns:a16="http://schemas.microsoft.com/office/drawing/2014/main" id="{4EC0A38B-B314-43E0-8FF2-85E34145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629150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B756E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B756E"/>
                </a:solidFill>
                <a:latin typeface="Arial"/>
                <a:ea typeface="Arial"/>
                <a:cs typeface="Arial"/>
              </a:rPr>
              <a:t>Model-selection infrastructure</a:t>
            </a:r>
          </a:p>
        </p:txBody>
      </p:sp>
      <p:sp>
        <p:nvSpPr>
          <p:cNvPr id="22" name="close-brand">
            <a:extLst xmlns:a="http://schemas.openxmlformats.org/drawingml/2006/main">
              <a:ext uri="{FF2B5EF4-FFF2-40B4-BE49-F238E27FC236}">
                <a16:creationId xmlns:a16="http://schemas.microsoft.com/office/drawing/2014/main" id="{F3E7243D-B3F8-4127-8485-1E52AB0D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562600"/>
            <a:ext cx="312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250" b="1" i="0">
                <a:solidFill>
                  <a:srgbClr val="14271D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14271D"/>
                </a:solidFill>
                <a:latin typeface="Georgia"/>
                <a:ea typeface="Georgia"/>
                <a:cs typeface="Georgia"/>
              </a:rPr>
              <a:t>Frontier Max</a:t>
            </a:r>
          </a:p>
        </p:txBody>
      </p:sp>
      <p:sp>
        <p:nvSpPr>
          <p:cNvPr id="23" name="close-url">
            <a:extLst xmlns:a="http://schemas.openxmlformats.org/drawingml/2006/main">
              <a:ext uri="{FF2B5EF4-FFF2-40B4-BE49-F238E27FC236}">
                <a16:creationId xmlns:a16="http://schemas.microsoft.com/office/drawing/2014/main" id="{FDA7B7D7-DC83-4E92-9E1E-BEFC6E2B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019800"/>
            <a:ext cx="312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B756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B756E"/>
                </a:solidFill>
                <a:latin typeface="Arial"/>
                <a:ea typeface="Arial"/>
                <a:cs typeface="Arial"/>
              </a:rPr>
              <a:t>agent-frontier.monilpat.chatgpt.site</a:t>
            </a:r>
          </a:p>
        </p:txBody>
      </p:sp>
      <p:sp>
        <p:nvSpPr>
          <p:cNvPr id="24" name="footer-brand-6">
            <a:extLst xmlns:a="http://schemas.openxmlformats.org/drawingml/2006/main">
              <a:ext uri="{FF2B5EF4-FFF2-40B4-BE49-F238E27FC236}">
                <a16:creationId xmlns:a16="http://schemas.microsoft.com/office/drawing/2014/main" id="{0DE8921A-DC55-4555-B7BB-FC7B5C80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D6DDC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6DDCF"/>
                </a:solidFill>
                <a:latin typeface="Arial"/>
                <a:ea typeface="Arial"/>
                <a:cs typeface="Arial"/>
              </a:rPr>
              <a:t>FRONTIER MAX</a:t>
            </a:r>
          </a:p>
        </p:txBody>
      </p:sp>
      <p:sp>
        <p:nvSpPr>
          <p:cNvPr id="25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CA925375-DE5F-43D2-B128-EC88F155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D6DDC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6DDC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514935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2026-07-18T23:53:18.7520000Z</dcterms:created>
  <dcterms:modified xsi:type="dcterms:W3CDTF">2026-07-18T23:53:18.7520000Z</dcterms:modified>
</coreProperties>
</file>