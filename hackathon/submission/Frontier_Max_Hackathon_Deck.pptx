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d1973c0ff04177" /><Relationship Type="http://schemas.openxmlformats.org/officeDocument/2006/relationships/extended-properties" Target="/docProps/app.xml" Id="R6d88bf17cdff4970" /><Relationship Type="http://schemas.openxmlformats.org/officeDocument/2006/relationships/officeDocument" Target="/ppt/presentation.xml" Id="Race27b02c7014c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f7939ffe6f4546"/>
  </p:sldMasterIdLst>
  <p:notesMasterIdLst>
    <p:notesMasterId xmlns:r="http://schemas.openxmlformats.org/officeDocument/2006/relationships" r:id="Ra09fb806de0f4c78"/>
  </p:notesMasterIdLst>
  <p:sldIdLst>
    <p:sldId xmlns:r="http://schemas.openxmlformats.org/officeDocument/2006/relationships" id="256" r:id="Rddfa034de5094411"/>
    <p:sldId xmlns:r="http://schemas.openxmlformats.org/officeDocument/2006/relationships" id="257" r:id="R9fd621d6ca264c91"/>
    <p:sldId xmlns:r="http://schemas.openxmlformats.org/officeDocument/2006/relationships" id="258" r:id="Re91f3cfa705246fa"/>
    <p:sldId xmlns:r="http://schemas.openxmlformats.org/officeDocument/2006/relationships" id="259" r:id="R3ec5c53b4e4e4d54"/>
    <p:sldId xmlns:r="http://schemas.openxmlformats.org/officeDocument/2006/relationships" id="260" r:id="Re2436ff86ee54594"/>
    <p:sldId xmlns:r="http://schemas.openxmlformats.org/officeDocument/2006/relationships" id="261" r:id="R575bd2ed2d694579"/>
    <p:sldId xmlns:r="http://schemas.openxmlformats.org/officeDocument/2006/relationships" id="262" r:id="R8ace824e9b4c4cf8"/>
    <p:sldId xmlns:r="http://schemas.openxmlformats.org/officeDocument/2006/relationships" id="263" r:id="R590347638128442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48b011b3ff47ea" /><Relationship Type="http://schemas.openxmlformats.org/officeDocument/2006/relationships/slideMaster" Target="/ppt/slideMasters/slideMaster1.xml" Id="R18f7939ffe6f4546" /><Relationship Type="http://schemas.openxmlformats.org/officeDocument/2006/relationships/notesMaster" Target="/ppt/notesMasters/notesMaster1.xml" Id="Ra09fb806de0f4c78" /><Relationship Type="http://schemas.openxmlformats.org/officeDocument/2006/relationships/presProps" Target="/ppt/presProps.xml" Id="Redc357ccf7d34750" /><Relationship Type="http://schemas.openxmlformats.org/officeDocument/2006/relationships/tableStyles" Target="/ppt/tableStyles.xml" Id="R67a2416addca47f7" /><Relationship Type="http://schemas.openxmlformats.org/officeDocument/2006/relationships/slide" Target="/ppt/slides/slide1.xml" Id="Rddfa034de5094411" /><Relationship Type="http://schemas.openxmlformats.org/officeDocument/2006/relationships/slide" Target="/ppt/slides/slide2.xml" Id="R9fd621d6ca264c91" /><Relationship Type="http://schemas.openxmlformats.org/officeDocument/2006/relationships/slide" Target="/ppt/slides/slide3.xml" Id="Re91f3cfa705246fa" /><Relationship Type="http://schemas.openxmlformats.org/officeDocument/2006/relationships/slide" Target="/ppt/slides/slide4.xml" Id="R3ec5c53b4e4e4d54" /><Relationship Type="http://schemas.openxmlformats.org/officeDocument/2006/relationships/slide" Target="/ppt/slides/slide5.xml" Id="Re2436ff86ee54594" /><Relationship Type="http://schemas.openxmlformats.org/officeDocument/2006/relationships/slide" Target="/ppt/slides/slide6.xml" Id="R575bd2ed2d694579" /><Relationship Type="http://schemas.openxmlformats.org/officeDocument/2006/relationships/slide" Target="/ppt/slides/slide7.xml" Id="R8ace824e9b4c4cf8" /><Relationship Type="http://schemas.openxmlformats.org/officeDocument/2006/relationships/slide" Target="/ppt/slides/slide8.xml" Id="R59034763812844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ef054303b046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809b808aae44c3" /><Relationship Type="http://schemas.openxmlformats.org/officeDocument/2006/relationships/notesMaster" Target="/ppt/notesMasters/notesMaster1.xml" Id="R8b1f7bc0389a44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943a3895024af2" /><Relationship Type="http://schemas.openxmlformats.org/officeDocument/2006/relationships/notesMaster" Target="/ppt/notesMasters/notesMaster1.xml" Id="R2131bb18721f45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1ea3853dee4c8d" /><Relationship Type="http://schemas.openxmlformats.org/officeDocument/2006/relationships/notesMaster" Target="/ppt/notesMasters/notesMaster1.xml" Id="R843ee336f96f44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c2c2cfea2b4606" /><Relationship Type="http://schemas.openxmlformats.org/officeDocument/2006/relationships/notesMaster" Target="/ppt/notesMasters/notesMaster1.xml" Id="R080d7d8ae67c4f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d68352f60c40b3" /><Relationship Type="http://schemas.openxmlformats.org/officeDocument/2006/relationships/notesMaster" Target="/ppt/notesMasters/notesMaster1.xml" Id="Rb2157688217b41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8eb577fa814579" /><Relationship Type="http://schemas.openxmlformats.org/officeDocument/2006/relationships/notesMaster" Target="/ppt/notesMasters/notesMaster1.xml" Id="Rcc8c0c8ba43446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d0ddb289a64d56" /><Relationship Type="http://schemas.openxmlformats.org/officeDocument/2006/relationships/notesMaster" Target="/ppt/notesMasters/notesMaster1.xml" Id="Rfc624a95ff824d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d1bc5345f74f93" /><Relationship Type="http://schemas.openxmlformats.org/officeDocument/2006/relationships/notesMaster" Target="/ppt/notesMasters/notesMaster1.xml" Id="R3109f532a5a941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0e77cc33ea41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584f6c4c5e40da" /><Relationship Type="http://schemas.openxmlformats.org/officeDocument/2006/relationships/slideLayout" Target="/ppt/slideLayouts/slideLayout1.xml" Id="R7c4cfe8f2cd844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4cfe8f2cd844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e4ef8c06a46ce" /><Relationship Type="http://schemas.openxmlformats.org/officeDocument/2006/relationships/notesSlide" Target="/ppt/notesSlides/notesSlide1.xml" Id="Reda8c7cb0a3b4b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6ddabdbb7847ab" /><Relationship Type="http://schemas.openxmlformats.org/officeDocument/2006/relationships/notesSlide" Target="/ppt/notesSlides/notesSlide2.xml" Id="R062b47a317eb4a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344e2582474716" /><Relationship Type="http://schemas.openxmlformats.org/officeDocument/2006/relationships/notesSlide" Target="/ppt/notesSlides/notesSlide3.xml" Id="R0393de2879294e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68b1772f534cf9" /><Relationship Type="http://schemas.openxmlformats.org/officeDocument/2006/relationships/notesSlide" Target="/ppt/notesSlides/notesSlide4.xml" Id="R4986977ec9b749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8b67ee7a4d466a" /><Relationship Type="http://schemas.openxmlformats.org/officeDocument/2006/relationships/notesSlide" Target="/ppt/notesSlides/notesSlide5.xml" Id="R5035f88343444a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e46b0ca394c85" /><Relationship Type="http://schemas.openxmlformats.org/officeDocument/2006/relationships/notesSlide" Target="/ppt/notesSlides/notesSlide6.xml" Id="R03299a336a5c4f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21131c41a94774" /><Relationship Type="http://schemas.openxmlformats.org/officeDocument/2006/relationships/notesSlide" Target="/ppt/notesSlides/notesSlide7.xml" Id="R93a6eee45a794e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6405355f447ef" /><Relationship Type="http://schemas.openxmlformats.org/officeDocument/2006/relationships/notesSlide" Target="/ppt/notesSlides/notesSlide8.xml" Id="R2ff8ce74460d4f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7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clay-field">
            <a:extLst xmlns:a="http://schemas.openxmlformats.org/drawingml/2006/main">
              <a:ext uri="{FF2B5EF4-FFF2-40B4-BE49-F238E27FC236}">
                <a16:creationId xmlns:a16="http://schemas.microsoft.com/office/drawing/2014/main" id="{6F4BB229-E639-436E-8F73-5C27E579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0"/>
            <a:ext cx="3200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9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sage-field">
            <a:extLst xmlns:a="http://schemas.openxmlformats.org/drawingml/2006/main">
              <a:ext uri="{FF2B5EF4-FFF2-40B4-BE49-F238E27FC236}">
                <a16:creationId xmlns:a16="http://schemas.microsoft.com/office/drawing/2014/main" id="{0594666F-A6FF-4E02-B708-3F36E667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2590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-paper-field">
            <a:extLst xmlns:a="http://schemas.openxmlformats.org/drawingml/2006/main">
              <a:ext uri="{FF2B5EF4-FFF2-40B4-BE49-F238E27FC236}">
                <a16:creationId xmlns:a16="http://schemas.microsoft.com/office/drawing/2014/main" id="{548E5BA9-35A2-413E-AC09-68516EC0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-eyebrow-rule">
            <a:extLst xmlns:a="http://schemas.openxmlformats.org/drawingml/2006/main">
              <a:ext uri="{FF2B5EF4-FFF2-40B4-BE49-F238E27FC236}">
                <a16:creationId xmlns:a16="http://schemas.microsoft.com/office/drawing/2014/main" id="{E45399C5-366D-4E65-B15F-2B8E4488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3238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9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eyebrow">
            <a:extLst xmlns:a="http://schemas.openxmlformats.org/drawingml/2006/main">
              <a:ext uri="{FF2B5EF4-FFF2-40B4-BE49-F238E27FC236}">
                <a16:creationId xmlns:a16="http://schemas.microsoft.com/office/drawing/2014/main" id="{74149CAE-B239-489A-B461-06D22C2B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72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D6DDC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6DDCF"/>
                </a:solidFill>
                <a:latin typeface="Arial"/>
                <a:ea typeface="Arial"/>
                <a:cs typeface="Arial"/>
              </a:rPr>
              <a:t>STANFORD × DEEPMIND HACKATHON</a:t>
            </a:r>
          </a:p>
        </p:txBody>
      </p:sp>
      <p:sp>
        <p:nvSpPr>
          <p:cNvPr id="6" name="title-main">
            <a:extLst xmlns:a="http://schemas.openxmlformats.org/drawingml/2006/main">
              <a:ext uri="{FF2B5EF4-FFF2-40B4-BE49-F238E27FC236}">
                <a16:creationId xmlns:a16="http://schemas.microsoft.com/office/drawing/2014/main" id="{16624A92-B40B-4539-870F-685E9592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64770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2000"/>
              </a:lnSpc>
              <a:buNone/>
              <a:defRPr sz="6600" b="1" i="0">
                <a:solidFill>
                  <a:srgbClr val="FFFAF2"/>
                </a:solidFill>
                <a:latin typeface="Georgia"/>
                <a:ea typeface="Georgia"/>
                <a:cs typeface="Georgia"/>
              </a:defRPr>
            </a:pPr>
            <a:r>
              <a:rPr sz="6600" b="1" i="0">
                <a:solidFill>
                  <a:srgbClr val="FFFAF2"/>
                </a:solidFill>
                <a:latin typeface="Georgia"/>
                <a:ea typeface="Georgia"/>
                <a:cs typeface="Georgia"/>
              </a:rPr>
              <a:t>Frontier</a:t>
            </a:r>
          </a:p>
          <a:p xmlns:a="http://schemas.openxmlformats.org/drawingml/2006/main">
            <a:pPr algn="l">
              <a:lnSpc>
                <a:spcPct val="82000"/>
              </a:lnSpc>
              <a:buNone/>
              <a:defRPr sz="6600" b="1" i="0">
                <a:solidFill>
                  <a:srgbClr val="FFFAF2"/>
                </a:solidFill>
                <a:latin typeface="Georgia"/>
                <a:ea typeface="Georgia"/>
                <a:cs typeface="Georgia"/>
              </a:defRPr>
            </a:pPr>
            <a:r>
              <a:rPr sz="6600" b="1" i="0">
                <a:solidFill>
                  <a:srgbClr val="FFFAF2"/>
                </a:solidFill>
                <a:latin typeface="Georgia"/>
                <a:ea typeface="Georgia"/>
                <a:cs typeface="Georgia"/>
              </a:rPr>
              <a:t>Max</a:t>
            </a:r>
          </a:p>
        </p:txBody>
      </p:sp>
      <p:sp>
        <p:nvSpPr>
          <p:cNvPr id="7" name="title-tagline">
            <a:extLst xmlns:a="http://schemas.openxmlformats.org/drawingml/2006/main">
              <a:ext uri="{FF2B5EF4-FFF2-40B4-BE49-F238E27FC236}">
                <a16:creationId xmlns:a16="http://schemas.microsoft.com/office/drawing/2014/main" id="{5DD66F49-4074-4310-A631-83D18A06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67125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 i="1">
                <a:solidFill>
                  <a:srgbClr val="D97954"/>
                </a:solidFill>
                <a:latin typeface="Georgia"/>
                <a:ea typeface="Georgia"/>
                <a:cs typeface="Georgia"/>
              </a:defRPr>
            </a:pPr>
            <a:r>
              <a:rPr sz="2250" b="0" i="1">
                <a:solidFill>
                  <a:srgbClr val="D97954"/>
                </a:solidFill>
                <a:latin typeface="Georgia"/>
                <a:ea typeface="Georgia"/>
                <a:cs typeface="Georgia"/>
              </a:rPr>
              <a:t>From benchmark to runtime.</a:t>
            </a:r>
          </a:p>
        </p:txBody>
      </p:sp>
      <p:sp>
        <p:nvSpPr>
          <p:cNvPr id="8" name="title-subtitle">
            <a:extLst xmlns:a="http://schemas.openxmlformats.org/drawingml/2006/main">
              <a:ext uri="{FF2B5EF4-FFF2-40B4-BE49-F238E27FC236}">
                <a16:creationId xmlns:a16="http://schemas.microsoft.com/office/drawing/2014/main" id="{9B3D28F9-7947-4500-8CAA-7C45994B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657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 i="0">
                <a:solidFill>
                  <a:srgbClr val="D6DDC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D6DDCF"/>
                </a:solidFill>
                <a:latin typeface="Arial"/>
                <a:ea typeface="Arial"/>
                <a:cs typeface="Arial"/>
              </a:rPr>
              <a:t>Turn public AI benchmark evidence into the right model policy for the work.</a:t>
            </a:r>
          </a:p>
        </p:txBody>
      </p:sp>
      <p:sp>
        <p:nvSpPr>
          <p:cNvPr id="9" name="title-url">
            <a:extLst xmlns:a="http://schemas.openxmlformats.org/drawingml/2006/main">
              <a:ext uri="{FF2B5EF4-FFF2-40B4-BE49-F238E27FC236}">
                <a16:creationId xmlns:a16="http://schemas.microsoft.com/office/drawing/2014/main" id="{8A2F4F2B-D4F7-483A-9B72-352CC837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FAF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AF2"/>
                </a:solidFill>
                <a:latin typeface="Arial"/>
                <a:ea typeface="Arial"/>
                <a:cs typeface="Arial"/>
              </a:rPr>
              <a:t>agent-frontier.monilpat.chatgpt.site</a:t>
            </a:r>
          </a:p>
        </p:txBody>
      </p:sp>
      <p:sp>
        <p:nvSpPr>
          <p:cNvPr id="10" name="title-word-evidence">
            <a:extLst xmlns:a="http://schemas.openxmlformats.org/drawingml/2006/main">
              <a:ext uri="{FF2B5EF4-FFF2-40B4-BE49-F238E27FC236}">
                <a16:creationId xmlns:a16="http://schemas.microsoft.com/office/drawing/2014/main" id="{FADAA9B5-6319-4111-90BD-6E13E01C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2001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14271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4271D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1" name="title-word-policy">
            <a:extLst xmlns:a="http://schemas.openxmlformats.org/drawingml/2006/main">
              <a:ext uri="{FF2B5EF4-FFF2-40B4-BE49-F238E27FC236}">
                <a16:creationId xmlns:a16="http://schemas.microsoft.com/office/drawing/2014/main" id="{373E7755-0962-4780-ABBA-6D3E531D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19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14271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4271D"/>
                </a:solidFill>
                <a:latin typeface="Arial"/>
                <a:ea typeface="Arial"/>
                <a:cs typeface="Arial"/>
              </a:rPr>
              <a:t>POLICY</a:t>
            </a:r>
          </a:p>
        </p:txBody>
      </p:sp>
      <p:sp>
        <p:nvSpPr>
          <p:cNvPr id="12" name="title-word-route">
            <a:extLst xmlns:a="http://schemas.openxmlformats.org/drawingml/2006/main">
              <a:ext uri="{FF2B5EF4-FFF2-40B4-BE49-F238E27FC236}">
                <a16:creationId xmlns:a16="http://schemas.microsoft.com/office/drawing/2014/main" id="{952A2054-232D-4BB7-86D8-77FE7361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2387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14271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4271D"/>
                </a:solidFill>
                <a:latin typeface="Arial"/>
                <a:ea typeface="Arial"/>
                <a:cs typeface="Arial"/>
              </a:rPr>
              <a:t>ROUTE</a:t>
            </a:r>
          </a:p>
        </p:txBody>
      </p:sp>
      <p:sp>
        <p:nvSpPr>
          <p:cNvPr id="13" name="title-dot-1">
            <a:extLst xmlns:a="http://schemas.openxmlformats.org/drawingml/2006/main">
              <a:ext uri="{FF2B5EF4-FFF2-40B4-BE49-F238E27FC236}">
                <a16:creationId xmlns:a16="http://schemas.microsoft.com/office/drawing/2014/main" id="{C92CF05F-E422-4F95-9D9E-2C8A7C47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7335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7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itle-dot-2">
            <a:extLst xmlns:a="http://schemas.openxmlformats.org/drawingml/2006/main">
              <a:ext uri="{FF2B5EF4-FFF2-40B4-BE49-F238E27FC236}">
                <a16:creationId xmlns:a16="http://schemas.microsoft.com/office/drawing/2014/main" id="{04920A2F-0898-4801-8AFA-0F2CFD62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7528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7C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itle-dot-3">
            <a:extLst xmlns:a="http://schemas.openxmlformats.org/drawingml/2006/main">
              <a:ext uri="{FF2B5EF4-FFF2-40B4-BE49-F238E27FC236}">
                <a16:creationId xmlns:a16="http://schemas.microsoft.com/office/drawing/2014/main" id="{1C08136F-1257-41E4-A9A0-2DB3F680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5772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95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393492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roblem-eyebrow-rule">
            <a:extLst xmlns:a="http://schemas.openxmlformats.org/drawingml/2006/main">
              <a:ext uri="{FF2B5EF4-FFF2-40B4-BE49-F238E27FC236}">
                <a16:creationId xmlns:a16="http://schemas.microsoft.com/office/drawing/2014/main" id="{946D5139-3198-4CED-BB3C-36C52290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3238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9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roblem-eyebrow">
            <a:extLst xmlns:a="http://schemas.openxmlformats.org/drawingml/2006/main">
              <a:ext uri="{FF2B5EF4-FFF2-40B4-BE49-F238E27FC236}">
                <a16:creationId xmlns:a16="http://schemas.microsoft.com/office/drawing/2014/main" id="{FFB64706-81B2-4950-AD35-22DCF7B0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72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6B756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B756E"/>
                </a:solidFill>
                <a:latin typeface="Arial"/>
                <a:ea typeface="Arial"/>
                <a:cs typeface="Arial"/>
              </a:rPr>
              <a:t>THE DECISION GAP</a:t>
            </a:r>
          </a:p>
        </p:txBody>
      </p:sp>
      <p:sp>
        <p:nvSpPr>
          <p:cNvPr id="3" name="problem-title">
            <a:extLst xmlns:a="http://schemas.openxmlformats.org/drawingml/2006/main">
              <a:ext uri="{FF2B5EF4-FFF2-40B4-BE49-F238E27FC236}">
                <a16:creationId xmlns:a16="http://schemas.microsoft.com/office/drawing/2014/main" id="{DE21CB3A-DC8B-45D2-9D86-94364609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 i="0">
                <a:solidFill>
                  <a:srgbClr val="14271D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4271D"/>
                </a:solidFill>
                <a:latin typeface="Georgia"/>
                <a:ea typeface="Georgia"/>
                <a:cs typeface="Georgia"/>
              </a:rPr>
              <a:t>Leaderboards answer the wrong question.</a:t>
            </a:r>
          </a:p>
        </p:txBody>
      </p:sp>
      <p:sp>
        <p:nvSpPr>
          <p:cNvPr id="4" name="problem-left-question">
            <a:extLst xmlns:a="http://schemas.openxmlformats.org/drawingml/2006/main">
              <a:ext uri="{FF2B5EF4-FFF2-40B4-BE49-F238E27FC236}">
                <a16:creationId xmlns:a16="http://schemas.microsoft.com/office/drawing/2014/main" id="{2E6D6691-0596-407A-8782-AA001544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4191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 i="0">
                <a:solidFill>
                  <a:srgbClr val="6B756E"/>
                </a:solidFill>
                <a:latin typeface="Georgia"/>
                <a:ea typeface="Georgia"/>
                <a:cs typeface="Georgia"/>
              </a:defRPr>
            </a:pPr>
            <a:r>
              <a:rPr sz="3000" b="1" i="0">
                <a:solidFill>
                  <a:srgbClr val="6B756E"/>
                </a:solidFill>
                <a:latin typeface="Georgia"/>
                <a:ea typeface="Georgia"/>
                <a:cs typeface="Georgia"/>
              </a:rPr>
              <a:t>“Which model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000" b="1" i="0">
                <a:solidFill>
                  <a:srgbClr val="6B756E"/>
                </a:solidFill>
                <a:latin typeface="Georgia"/>
                <a:ea typeface="Georgia"/>
                <a:cs typeface="Georgia"/>
              </a:defRPr>
            </a:pPr>
            <a:r>
              <a:rPr sz="3000" b="1" i="0">
                <a:solidFill>
                  <a:srgbClr val="6B756E"/>
                </a:solidFill>
                <a:latin typeface="Georgia"/>
                <a:ea typeface="Georgia"/>
                <a:cs typeface="Georgia"/>
              </a:rPr>
              <a:t>scored highest?”</a:t>
            </a:r>
          </a:p>
        </p:txBody>
      </p:sp>
      <p:sp>
        <p:nvSpPr>
          <p:cNvPr id="5" name="problem-divider">
            <a:extLst xmlns:a="http://schemas.openxmlformats.org/drawingml/2006/main">
              <a:ext uri="{FF2B5EF4-FFF2-40B4-BE49-F238E27FC236}">
                <a16:creationId xmlns:a16="http://schemas.microsoft.com/office/drawing/2014/main" id="{26D0F0A1-37E6-4859-86AD-A0AD5FE9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52650"/>
            <a:ext cx="38100" cy="2781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9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roblem-right-question">
            <a:extLst xmlns:a="http://schemas.openxmlformats.org/drawingml/2006/main">
              <a:ext uri="{FF2B5EF4-FFF2-40B4-BE49-F238E27FC236}">
                <a16:creationId xmlns:a16="http://schemas.microsoft.com/office/drawing/2014/main" id="{CBD04B2E-85FE-4119-8EBA-83D328E3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33600"/>
            <a:ext cx="4953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 i="0">
                <a:solidFill>
                  <a:srgbClr val="14271D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14271D"/>
                </a:solidFill>
                <a:latin typeface="Georgia"/>
                <a:ea typeface="Georgia"/>
                <a:cs typeface="Georgia"/>
              </a:rPr>
              <a:t>“Which configuration can meet this work’s quality, time, cost, and context limits?”</a:t>
            </a:r>
          </a:p>
        </p:txBody>
      </p:sp>
      <p:sp>
        <p:nvSpPr>
          <p:cNvPr id="7" name="problem-left-note">
            <a:extLst xmlns:a="http://schemas.openxmlformats.org/drawingml/2006/main">
              <a:ext uri="{FF2B5EF4-FFF2-40B4-BE49-F238E27FC236}">
                <a16:creationId xmlns:a16="http://schemas.microsoft.com/office/drawing/2014/main" id="{6FB33BC2-E1A4-4F10-9FCE-931015EE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4114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6B756E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6B756E"/>
                </a:solidFill>
                <a:latin typeface="Arial"/>
                <a:ea typeface="Arial"/>
                <a:cs typeface="Arial"/>
              </a:rPr>
              <a:t>A universal rank compresses away the conditions that determine whether a model actually works in production.</a:t>
            </a:r>
          </a:p>
        </p:txBody>
      </p:sp>
      <p:sp>
        <p:nvSpPr>
          <p:cNvPr id="8" name="problem-label-rule-0">
            <a:extLst xmlns:a="http://schemas.openxmlformats.org/drawingml/2006/main">
              <a:ext uri="{FF2B5EF4-FFF2-40B4-BE49-F238E27FC236}">
                <a16:creationId xmlns:a16="http://schemas.microsoft.com/office/drawing/2014/main" id="{7650BC9D-318C-43EE-B5F8-EF3FD75B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05350"/>
            <a:ext cx="895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27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oblem-label-0">
            <a:extLst xmlns:a="http://schemas.openxmlformats.org/drawingml/2006/main">
              <a:ext uri="{FF2B5EF4-FFF2-40B4-BE49-F238E27FC236}">
                <a16:creationId xmlns:a16="http://schemas.microsoft.com/office/drawing/2014/main" id="{875EF8FB-6528-4808-95FE-297B2142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5775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26332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6332B"/>
                </a:solidFill>
                <a:latin typeface="Arial"/>
                <a:ea typeface="Arial"/>
                <a:cs typeface="Arial"/>
              </a:rPr>
              <a:t>QUALITY</a:t>
            </a:r>
          </a:p>
        </p:txBody>
      </p:sp>
      <p:sp>
        <p:nvSpPr>
          <p:cNvPr id="10" name="problem-label-rule-1">
            <a:extLst xmlns:a="http://schemas.openxmlformats.org/drawingml/2006/main">
              <a:ext uri="{FF2B5EF4-FFF2-40B4-BE49-F238E27FC236}">
                <a16:creationId xmlns:a16="http://schemas.microsoft.com/office/drawing/2014/main" id="{B2711E57-472D-43D9-BE13-BF252735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05350"/>
            <a:ext cx="895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7C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oblem-label-1">
            <a:extLst xmlns:a="http://schemas.openxmlformats.org/drawingml/2006/main">
              <a:ext uri="{FF2B5EF4-FFF2-40B4-BE49-F238E27FC236}">
                <a16:creationId xmlns:a16="http://schemas.microsoft.com/office/drawing/2014/main" id="{7B327352-0180-4CED-BD56-AA28A988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5775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26332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6332B"/>
                </a:solidFill>
                <a:latin typeface="Arial"/>
                <a:ea typeface="Arial"/>
                <a:cs typeface="Arial"/>
              </a:rPr>
              <a:t>TIME</a:t>
            </a:r>
          </a:p>
        </p:txBody>
      </p:sp>
      <p:sp>
        <p:nvSpPr>
          <p:cNvPr id="12" name="problem-label-rule-2">
            <a:extLst xmlns:a="http://schemas.openxmlformats.org/drawingml/2006/main">
              <a:ext uri="{FF2B5EF4-FFF2-40B4-BE49-F238E27FC236}">
                <a16:creationId xmlns:a16="http://schemas.microsoft.com/office/drawing/2014/main" id="{50641E07-2FA7-4CEC-A733-4FB87902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05350"/>
            <a:ext cx="895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9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roblem-label-2">
            <a:extLst xmlns:a="http://schemas.openxmlformats.org/drawingml/2006/main">
              <a:ext uri="{FF2B5EF4-FFF2-40B4-BE49-F238E27FC236}">
                <a16:creationId xmlns:a16="http://schemas.microsoft.com/office/drawing/2014/main" id="{EED2657F-DC63-4BC1-941B-3048E2C6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85775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26332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6332B"/>
                </a:solidFill>
                <a:latin typeface="Arial"/>
                <a:ea typeface="Arial"/>
                <a:cs typeface="Arial"/>
              </a:rPr>
              <a:t>COST</a:t>
            </a:r>
          </a:p>
        </p:txBody>
      </p:sp>
      <p:sp>
        <p:nvSpPr>
          <p:cNvPr id="14" name="problem-label-rule-3">
            <a:extLst xmlns:a="http://schemas.openxmlformats.org/drawingml/2006/main">
              <a:ext uri="{FF2B5EF4-FFF2-40B4-BE49-F238E27FC236}">
                <a16:creationId xmlns:a16="http://schemas.microsoft.com/office/drawing/2014/main" id="{EDCAA449-55FE-4D8F-BD78-4D97468B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705350"/>
            <a:ext cx="895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8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roblem-label-3">
            <a:extLst xmlns:a="http://schemas.openxmlformats.org/drawingml/2006/main">
              <a:ext uri="{FF2B5EF4-FFF2-40B4-BE49-F238E27FC236}">
                <a16:creationId xmlns:a16="http://schemas.microsoft.com/office/drawing/2014/main" id="{8258A165-63E4-42D6-BB38-7A1B86D3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85775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26332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6332B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sp>
        <p:nvSpPr>
          <p:cNvPr id="16" name="problem-conclusion">
            <a:extLst xmlns:a="http://schemas.openxmlformats.org/drawingml/2006/main">
              <a:ext uri="{FF2B5EF4-FFF2-40B4-BE49-F238E27FC236}">
                <a16:creationId xmlns:a16="http://schemas.microsoft.com/office/drawing/2014/main" id="{738FE6AA-660A-4F5C-94C3-24ED01CA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3530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D97954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D97954"/>
                </a:solidFill>
                <a:latin typeface="Georgia"/>
                <a:ea typeface="Georgia"/>
                <a:cs typeface="Georgia"/>
              </a:rPr>
              <a:t>One rank hides four constraints.</a:t>
            </a:r>
          </a:p>
        </p:txBody>
      </p:sp>
      <p:sp>
        <p:nvSpPr>
          <p:cNvPr id="17" name="footer-brand-2">
            <a:extLst xmlns:a="http://schemas.openxmlformats.org/drawingml/2006/main">
              <a:ext uri="{FF2B5EF4-FFF2-40B4-BE49-F238E27FC236}">
                <a16:creationId xmlns:a16="http://schemas.microsoft.com/office/drawing/2014/main" id="{C46C973F-0B92-4E00-8B39-8019F223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6B756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B756E"/>
                </a:solidFill>
                <a:latin typeface="Arial"/>
                <a:ea typeface="Arial"/>
                <a:cs typeface="Arial"/>
              </a:rPr>
              <a:t>FRONTIER MAX</a:t>
            </a:r>
          </a:p>
        </p:txBody>
      </p:sp>
      <p:sp>
        <p:nvSpPr>
          <p:cNvPr id="18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9FA5186D-BE46-4600-90EB-F009FC97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B756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B756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782872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427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orkload-eyebrow-rule">
            <a:extLst xmlns:a="http://schemas.openxmlformats.org/drawingml/2006/main">
              <a:ext uri="{FF2B5EF4-FFF2-40B4-BE49-F238E27FC236}">
                <a16:creationId xmlns:a16="http://schemas.microsoft.com/office/drawing/2014/main" id="{3F0046FC-4C4A-4AA2-BC1C-811319A0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3238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9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workload-eyebrow">
            <a:extLst xmlns:a="http://schemas.openxmlformats.org/drawingml/2006/main">
              <a:ext uri="{FF2B5EF4-FFF2-40B4-BE49-F238E27FC236}">
                <a16:creationId xmlns:a16="http://schemas.microsoft.com/office/drawing/2014/main" id="{3A654969-4544-494D-83B1-25951FA8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72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D6DDC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6DDCF"/>
                </a:solidFill>
                <a:latin typeface="Arial"/>
                <a:ea typeface="Arial"/>
                <a:cs typeface="Arial"/>
              </a:rPr>
              <a:t>THE FIRST-PRINCIPLES INSIGHT</a:t>
            </a:r>
          </a:p>
        </p:txBody>
      </p:sp>
      <p:sp>
        <p:nvSpPr>
          <p:cNvPr id="3" name="workload-title">
            <a:extLst xmlns:a="http://schemas.openxmlformats.org/drawingml/2006/main">
              <a:ext uri="{FF2B5EF4-FFF2-40B4-BE49-F238E27FC236}">
                <a16:creationId xmlns:a16="http://schemas.microsoft.com/office/drawing/2014/main" id="{B36FC6C8-91EF-4F2B-B122-37AD1A86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 i="0">
                <a:solidFill>
                  <a:srgbClr val="FFFAF2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FFFAF2"/>
                </a:solidFill>
                <a:latin typeface="Georgia"/>
                <a:ea typeface="Georgia"/>
                <a:cs typeface="Georgia"/>
              </a:rPr>
              <a:t>“Best” changes when the workload changes.</a:t>
            </a:r>
          </a:p>
        </p:txBody>
      </p:sp>
      <p:sp>
        <p:nvSpPr>
          <p:cNvPr id="4" name="workload-time-disc">
            <a:extLst xmlns:a="http://schemas.openxmlformats.org/drawingml/2006/main">
              <a:ext uri="{FF2B5EF4-FFF2-40B4-BE49-F238E27FC236}">
                <a16:creationId xmlns:a16="http://schemas.microsoft.com/office/drawing/2014/main" id="{5BA73423-F54A-401F-B966-1416A744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9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workload-time-label">
            <a:extLst xmlns:a="http://schemas.openxmlformats.org/drawingml/2006/main">
              <a:ext uri="{FF2B5EF4-FFF2-40B4-BE49-F238E27FC236}">
                <a16:creationId xmlns:a16="http://schemas.microsoft.com/office/drawing/2014/main" id="{BFE2C624-A5B4-441D-8F8F-610518AB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990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375" b="1" i="0">
                <a:solidFill>
                  <a:srgbClr val="14271D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14271D"/>
                </a:solidFill>
                <a:latin typeface="Georgia"/>
                <a:ea typeface="Georgia"/>
                <a:cs typeface="Georgia"/>
              </a:rPr>
              <a:t>TIME</a:t>
            </a:r>
          </a:p>
        </p:txBody>
      </p:sp>
      <p:sp>
        <p:nvSpPr>
          <p:cNvPr id="6" name="workload-time-caption">
            <a:extLst xmlns:a="http://schemas.openxmlformats.org/drawingml/2006/main">
              <a:ext uri="{FF2B5EF4-FFF2-40B4-BE49-F238E27FC236}">
                <a16:creationId xmlns:a16="http://schemas.microsoft.com/office/drawing/2014/main" id="{5F6359AF-E666-4038-87B7-CD8665BF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2343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FFFAF2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AF2"/>
                </a:solidFill>
                <a:latin typeface="Arial"/>
                <a:ea typeface="Arial"/>
                <a:cs typeface="Arial"/>
              </a:rPr>
              <a:t>Human waiting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FFFAF2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AF2"/>
                </a:solidFill>
                <a:latin typeface="Arial"/>
                <a:ea typeface="Arial"/>
                <a:cs typeface="Arial"/>
              </a:rPr>
              <a:t>Interactive coding</a:t>
            </a:r>
          </a:p>
        </p:txBody>
      </p:sp>
      <p:sp>
        <p:nvSpPr>
          <p:cNvPr id="7" name="workload-cost-disc">
            <a:extLst xmlns:a="http://schemas.openxmlformats.org/drawingml/2006/main">
              <a:ext uri="{FF2B5EF4-FFF2-40B4-BE49-F238E27FC236}">
                <a16:creationId xmlns:a16="http://schemas.microsoft.com/office/drawing/2014/main" id="{7F21EA24-3DCC-46E8-AC65-217D0714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241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workload-cost-label">
            <a:extLst xmlns:a="http://schemas.openxmlformats.org/drawingml/2006/main">
              <a:ext uri="{FF2B5EF4-FFF2-40B4-BE49-F238E27FC236}">
                <a16:creationId xmlns:a16="http://schemas.microsoft.com/office/drawing/2014/main" id="{8474931D-E3DE-4593-BEA6-9468C2F9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0990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375" b="1" i="0">
                <a:solidFill>
                  <a:srgbClr val="14271D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14271D"/>
                </a:solidFill>
                <a:latin typeface="Georgia"/>
                <a:ea typeface="Georgia"/>
                <a:cs typeface="Georgia"/>
              </a:rPr>
              <a:t>COST</a:t>
            </a:r>
          </a:p>
        </p:txBody>
      </p:sp>
      <p:sp>
        <p:nvSpPr>
          <p:cNvPr id="9" name="workload-cost-caption">
            <a:extLst xmlns:a="http://schemas.openxmlformats.org/drawingml/2006/main">
              <a:ext uri="{FF2B5EF4-FFF2-40B4-BE49-F238E27FC236}">
                <a16:creationId xmlns:a16="http://schemas.microsoft.com/office/drawing/2014/main" id="{BF5435CA-A06E-4ECA-AD71-282F3ADD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819650"/>
            <a:ext cx="2343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FFFAF2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AF2"/>
                </a:solidFill>
                <a:latin typeface="Arial"/>
                <a:ea typeface="Arial"/>
                <a:cs typeface="Arial"/>
              </a:rPr>
              <a:t>Agent delegated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FFFAF2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AF2"/>
                </a:solidFill>
                <a:latin typeface="Arial"/>
                <a:ea typeface="Arial"/>
                <a:cs typeface="Arial"/>
              </a:rPr>
              <a:t>Long-horizon work</a:t>
            </a:r>
          </a:p>
        </p:txBody>
      </p:sp>
      <p:sp>
        <p:nvSpPr>
          <p:cNvPr id="10" name="workload-other-label">
            <a:extLst xmlns:a="http://schemas.openxmlformats.org/drawingml/2006/main">
              <a:ext uri="{FF2B5EF4-FFF2-40B4-BE49-F238E27FC236}">
                <a16:creationId xmlns:a16="http://schemas.microsoft.com/office/drawing/2014/main" id="{64B60D2B-B820-461D-9EC6-07A74FB1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241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D9795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97954"/>
                </a:solidFill>
                <a:latin typeface="Arial"/>
                <a:ea typeface="Arial"/>
                <a:cs typeface="Arial"/>
              </a:rPr>
              <a:t>OTHER OBJECTIVES</a:t>
            </a:r>
          </a:p>
        </p:txBody>
      </p:sp>
      <p:sp>
        <p:nvSpPr>
          <p:cNvPr id="11" name="workload-row-rule-0">
            <a:extLst xmlns:a="http://schemas.openxmlformats.org/drawingml/2006/main">
              <a:ext uri="{FF2B5EF4-FFF2-40B4-BE49-F238E27FC236}">
                <a16:creationId xmlns:a16="http://schemas.microsoft.com/office/drawing/2014/main" id="{32FB8B38-8899-4FBD-AF86-4C6ACA0B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C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workload-row-left-0">
            <a:extLst xmlns:a="http://schemas.openxmlformats.org/drawingml/2006/main">
              <a:ext uri="{FF2B5EF4-FFF2-40B4-BE49-F238E27FC236}">
                <a16:creationId xmlns:a16="http://schemas.microsoft.com/office/drawing/2014/main" id="{56F9400F-E898-431E-AF97-A8F02BF7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003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FAF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AF2"/>
                </a:solidFill>
                <a:latin typeface="Arial"/>
                <a:ea typeface="Arial"/>
                <a:cs typeface="Arial"/>
              </a:rPr>
              <a:t>REAL-TIME</a:t>
            </a:r>
          </a:p>
        </p:txBody>
      </p:sp>
      <p:sp>
        <p:nvSpPr>
          <p:cNvPr id="13" name="workload-row-right-0">
            <a:extLst xmlns:a="http://schemas.openxmlformats.org/drawingml/2006/main">
              <a:ext uri="{FF2B5EF4-FFF2-40B4-BE49-F238E27FC236}">
                <a16:creationId xmlns:a16="http://schemas.microsoft.com/office/drawing/2014/main" id="{4D61C503-9F53-4AE2-98A9-BAABE43F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003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0" i="0">
                <a:solidFill>
                  <a:srgbClr val="D6DDC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D6DDCF"/>
                </a:solidFill>
                <a:latin typeface="Arial"/>
                <a:ea typeface="Arial"/>
                <a:cs typeface="Arial"/>
              </a:rPr>
              <a:t>p95 latency</a:t>
            </a:r>
          </a:p>
        </p:txBody>
      </p:sp>
      <p:sp>
        <p:nvSpPr>
          <p:cNvPr id="14" name="workload-row-rule-1">
            <a:extLst xmlns:a="http://schemas.openxmlformats.org/drawingml/2006/main">
              <a:ext uri="{FF2B5EF4-FFF2-40B4-BE49-F238E27FC236}">
                <a16:creationId xmlns:a16="http://schemas.microsoft.com/office/drawing/2014/main" id="{80809AB3-4EBC-484F-A51E-753388F5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1955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C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workload-row-left-1">
            <a:extLst xmlns:a="http://schemas.openxmlformats.org/drawingml/2006/main">
              <a:ext uri="{FF2B5EF4-FFF2-40B4-BE49-F238E27FC236}">
                <a16:creationId xmlns:a16="http://schemas.microsoft.com/office/drawing/2014/main" id="{8E06CF1B-2CFC-46FB-B653-2DC19573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814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FAF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AF2"/>
                </a:solidFill>
                <a:latin typeface="Arial"/>
                <a:ea typeface="Arial"/>
                <a:cs typeface="Arial"/>
              </a:rPr>
              <a:t>BATCH</a:t>
            </a:r>
          </a:p>
        </p:txBody>
      </p:sp>
      <p:sp>
        <p:nvSpPr>
          <p:cNvPr id="16" name="workload-row-right-1">
            <a:extLst xmlns:a="http://schemas.openxmlformats.org/drawingml/2006/main">
              <a:ext uri="{FF2B5EF4-FFF2-40B4-BE49-F238E27FC236}">
                <a16:creationId xmlns:a16="http://schemas.microsoft.com/office/drawing/2014/main" id="{4FC0F330-8D51-40BC-B73D-FF6C2CBB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81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0" i="0">
                <a:solidFill>
                  <a:srgbClr val="D6DDC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D6DDCF"/>
                </a:solidFill>
                <a:latin typeface="Arial"/>
                <a:ea typeface="Arial"/>
                <a:cs typeface="Arial"/>
              </a:rPr>
              <a:t>accepted throughput</a:t>
            </a:r>
          </a:p>
        </p:txBody>
      </p:sp>
      <p:sp>
        <p:nvSpPr>
          <p:cNvPr id="17" name="workload-row-rule-2">
            <a:extLst xmlns:a="http://schemas.openxmlformats.org/drawingml/2006/main">
              <a:ext uri="{FF2B5EF4-FFF2-40B4-BE49-F238E27FC236}">
                <a16:creationId xmlns:a16="http://schemas.microsoft.com/office/drawing/2014/main" id="{A9940A69-F26B-4E01-A206-59F34CF0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0060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C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workload-row-left-2">
            <a:extLst xmlns:a="http://schemas.openxmlformats.org/drawingml/2006/main">
              <a:ext uri="{FF2B5EF4-FFF2-40B4-BE49-F238E27FC236}">
                <a16:creationId xmlns:a16="http://schemas.microsoft.com/office/drawing/2014/main" id="{0E495720-2643-4F30-9244-71FC3508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624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FAF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AF2"/>
                </a:solidFill>
                <a:latin typeface="Arial"/>
                <a:ea typeface="Arial"/>
                <a:cs typeface="Arial"/>
              </a:rPr>
              <a:t>CONTINUOUS</a:t>
            </a:r>
          </a:p>
        </p:txBody>
      </p:sp>
      <p:sp>
        <p:nvSpPr>
          <p:cNvPr id="19" name="workload-row-right-2">
            <a:extLst xmlns:a="http://schemas.openxmlformats.org/drawingml/2006/main">
              <a:ext uri="{FF2B5EF4-FFF2-40B4-BE49-F238E27FC236}">
                <a16:creationId xmlns:a16="http://schemas.microsoft.com/office/drawing/2014/main" id="{4A4615CC-C9F5-4513-869B-1874E02D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3624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0" i="0">
                <a:solidFill>
                  <a:srgbClr val="D6DDC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D6DDCF"/>
                </a:solidFill>
                <a:latin typeface="Arial"/>
                <a:ea typeface="Arial"/>
                <a:cs typeface="Arial"/>
              </a:rPr>
              <a:t>reliability + ops</a:t>
            </a:r>
          </a:p>
        </p:txBody>
      </p:sp>
      <p:sp>
        <p:nvSpPr>
          <p:cNvPr id="20" name="workload-conclusion">
            <a:extLst xmlns:a="http://schemas.openxmlformats.org/drawingml/2006/main">
              <a:ext uri="{FF2B5EF4-FFF2-40B4-BE49-F238E27FC236}">
                <a16:creationId xmlns:a16="http://schemas.microsoft.com/office/drawing/2014/main" id="{13EF4457-1403-4E88-92AD-D7E677EA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25780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 i="0">
                <a:solidFill>
                  <a:srgbClr val="BFD0C2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BFD0C2"/>
                </a:solidFill>
                <a:latin typeface="Georgia"/>
                <a:ea typeface="Georgia"/>
                <a:cs typeface="Georgia"/>
              </a:rPr>
              <a:t>An agent is a curve, not a point.</a:t>
            </a:r>
          </a:p>
        </p:txBody>
      </p:sp>
      <p:sp>
        <p:nvSpPr>
          <p:cNvPr id="21" name="footer-brand-3">
            <a:extLst xmlns:a="http://schemas.openxmlformats.org/drawingml/2006/main">
              <a:ext uri="{FF2B5EF4-FFF2-40B4-BE49-F238E27FC236}">
                <a16:creationId xmlns:a16="http://schemas.microsoft.com/office/drawing/2014/main" id="{EDEC91BE-7BB9-49EE-AECD-506A4948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D6DDC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D6DDCF"/>
                </a:solidFill>
                <a:latin typeface="Arial"/>
                <a:ea typeface="Arial"/>
                <a:cs typeface="Arial"/>
              </a:rPr>
              <a:t>FRONTIER MAX</a:t>
            </a:r>
          </a:p>
        </p:txBody>
      </p:sp>
      <p:sp>
        <p:nvSpPr>
          <p:cNvPr id="22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F34664E8-20F6-4CDA-BF1C-7469771D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D6DDC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D6DDC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289292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hain-eyebrow-rule">
            <a:extLst xmlns:a="http://schemas.openxmlformats.org/drawingml/2006/main">
              <a:ext uri="{FF2B5EF4-FFF2-40B4-BE49-F238E27FC236}">
                <a16:creationId xmlns:a16="http://schemas.microsoft.com/office/drawing/2014/main" id="{D45CEEB1-DAB7-400E-A113-98BAB82E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3238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9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in-eyebrow">
            <a:extLst xmlns:a="http://schemas.openxmlformats.org/drawingml/2006/main">
              <a:ext uri="{FF2B5EF4-FFF2-40B4-BE49-F238E27FC236}">
                <a16:creationId xmlns:a16="http://schemas.microsoft.com/office/drawing/2014/main" id="{EA500414-C6F2-45ED-A5C4-BD9FABDE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72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6B756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B756E"/>
                </a:solidFill>
                <a:latin typeface="Arial"/>
                <a:ea typeface="Arial"/>
                <a:cs typeface="Arial"/>
              </a:rPr>
              <a:t>FRONTIER MAX</a:t>
            </a:r>
          </a:p>
        </p:txBody>
      </p:sp>
      <p:sp>
        <p:nvSpPr>
          <p:cNvPr id="3" name="chain-title">
            <a:extLst xmlns:a="http://schemas.openxmlformats.org/drawingml/2006/main">
              <a:ext uri="{FF2B5EF4-FFF2-40B4-BE49-F238E27FC236}">
                <a16:creationId xmlns:a16="http://schemas.microsoft.com/office/drawing/2014/main" id="{332F846F-6232-4001-97AC-C87F98D5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 i="0">
                <a:solidFill>
                  <a:srgbClr val="14271D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4271D"/>
                </a:solidFill>
                <a:latin typeface="Georgia"/>
                <a:ea typeface="Georgia"/>
                <a:cs typeface="Georgia"/>
              </a:rPr>
              <a:t>One transparent chain turns evidence into action.</a:t>
            </a:r>
          </a:p>
        </p:txBody>
      </p:sp>
      <p:sp>
        <p:nvSpPr>
          <p:cNvPr id="4" name="chain-backbone">
            <a:extLst xmlns:a="http://schemas.openxmlformats.org/drawingml/2006/main">
              <a:ext uri="{FF2B5EF4-FFF2-40B4-BE49-F238E27FC236}">
                <a16:creationId xmlns:a16="http://schemas.microsoft.com/office/drawing/2014/main" id="{FA45A401-19E7-4D60-8298-43120AD9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71825"/>
            <a:ext cx="102870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C2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hain-dot-0">
            <a:extLst xmlns:a="http://schemas.openxmlformats.org/drawingml/2006/main">
              <a:ext uri="{FF2B5EF4-FFF2-40B4-BE49-F238E27FC236}">
                <a16:creationId xmlns:a16="http://schemas.microsoft.com/office/drawing/2014/main" id="{C2F59EF5-0703-414C-B127-E066A987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7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hain-num-0">
            <a:extLst xmlns:a="http://schemas.openxmlformats.org/drawingml/2006/main">
              <a:ext uri="{FF2B5EF4-FFF2-40B4-BE49-F238E27FC236}">
                <a16:creationId xmlns:a16="http://schemas.microsoft.com/office/drawing/2014/main" id="{2BA3C48F-195E-4D1F-931A-5F160175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AF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AF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chain-word-0">
            <a:extLst xmlns:a="http://schemas.openxmlformats.org/drawingml/2006/main">
              <a:ext uri="{FF2B5EF4-FFF2-40B4-BE49-F238E27FC236}">
                <a16:creationId xmlns:a16="http://schemas.microsoft.com/office/drawing/2014/main" id="{27F82B02-513A-4BF1-BD4A-48CC0E00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4271D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14271D"/>
                </a:solidFill>
                <a:latin typeface="Georgia"/>
                <a:ea typeface="Georgia"/>
                <a:cs typeface="Georgia"/>
              </a:rPr>
              <a:t>READ</a:t>
            </a:r>
          </a:p>
        </p:txBody>
      </p:sp>
      <p:sp>
        <p:nvSpPr>
          <p:cNvPr id="8" name="chain-note-0">
            <a:extLst xmlns:a="http://schemas.openxmlformats.org/drawingml/2006/main">
              <a:ext uri="{FF2B5EF4-FFF2-40B4-BE49-F238E27FC236}">
                <a16:creationId xmlns:a16="http://schemas.microsoft.com/office/drawing/2014/main" id="{A4761389-0F37-44A9-9E8B-33C1CCFF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2114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2633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6332B"/>
                </a:solidFill>
                <a:latin typeface="Arial"/>
                <a:ea typeface="Arial"/>
                <a:cs typeface="Arial"/>
              </a:rPr>
              <a:t>BenchmarkList catalog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2633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6332B"/>
                </a:solidFill>
                <a:latin typeface="Arial"/>
                <a:ea typeface="Arial"/>
                <a:cs typeface="Arial"/>
              </a:rPr>
              <a:t>Source + version lineage</a:t>
            </a:r>
          </a:p>
        </p:txBody>
      </p:sp>
      <p:sp>
        <p:nvSpPr>
          <p:cNvPr id="9" name="chain-dot-1">
            <a:extLst xmlns:a="http://schemas.openxmlformats.org/drawingml/2006/main">
              <a:ext uri="{FF2B5EF4-FFF2-40B4-BE49-F238E27FC236}">
                <a16:creationId xmlns:a16="http://schemas.microsoft.com/office/drawing/2014/main" id="{45B4CC76-59FB-4EE2-A64D-91FCF6DE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90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7C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hain-num-1">
            <a:extLst xmlns:a="http://schemas.openxmlformats.org/drawingml/2006/main">
              <a:ext uri="{FF2B5EF4-FFF2-40B4-BE49-F238E27FC236}">
                <a16:creationId xmlns:a16="http://schemas.microsoft.com/office/drawing/2014/main" id="{A857B3E7-8D8B-413B-9D76-0B8FD43A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48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AF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AF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chain-word-1">
            <a:extLst xmlns:a="http://schemas.openxmlformats.org/drawingml/2006/main">
              <a:ext uri="{FF2B5EF4-FFF2-40B4-BE49-F238E27FC236}">
                <a16:creationId xmlns:a16="http://schemas.microsoft.com/office/drawing/2014/main" id="{418C7CD5-0E76-41C8-AEBC-B85F831B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003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437C69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437C69"/>
                </a:solidFill>
                <a:latin typeface="Georgia"/>
                <a:ea typeface="Georgia"/>
                <a:cs typeface="Georgia"/>
              </a:rPr>
              <a:t>DECIDE</a:t>
            </a:r>
          </a:p>
        </p:txBody>
      </p:sp>
      <p:sp>
        <p:nvSpPr>
          <p:cNvPr id="12" name="chain-note-1">
            <a:extLst xmlns:a="http://schemas.openxmlformats.org/drawingml/2006/main">
              <a:ext uri="{FF2B5EF4-FFF2-40B4-BE49-F238E27FC236}">
                <a16:creationId xmlns:a16="http://schemas.microsoft.com/office/drawing/2014/main" id="{FCE4F36C-405B-44FB-B02C-F98C5E41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581400"/>
            <a:ext cx="2114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2633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6332B"/>
                </a:solidFill>
                <a:latin typeface="Arial"/>
                <a:ea typeface="Arial"/>
                <a:cs typeface="Arial"/>
              </a:rPr>
              <a:t>Workload-specific frontier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2633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6332B"/>
                </a:solidFill>
                <a:latin typeface="Arial"/>
                <a:ea typeface="Arial"/>
                <a:cs typeface="Arial"/>
              </a:rPr>
              <a:t>Hard gates before trade-offs</a:t>
            </a:r>
          </a:p>
        </p:txBody>
      </p:sp>
      <p:sp>
        <p:nvSpPr>
          <p:cNvPr id="13" name="chain-dot-2">
            <a:extLst xmlns:a="http://schemas.openxmlformats.org/drawingml/2006/main">
              <a:ext uri="{FF2B5EF4-FFF2-40B4-BE49-F238E27FC236}">
                <a16:creationId xmlns:a16="http://schemas.microsoft.com/office/drawing/2014/main" id="{3DAEB4AD-3C25-4891-8A19-4C9F209A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90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9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ain-num-2">
            <a:extLst xmlns:a="http://schemas.openxmlformats.org/drawingml/2006/main">
              <a:ext uri="{FF2B5EF4-FFF2-40B4-BE49-F238E27FC236}">
                <a16:creationId xmlns:a16="http://schemas.microsoft.com/office/drawing/2014/main" id="{4D8254BC-CCD9-4663-9DAD-DBD37408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48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AF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AF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chain-word-2">
            <a:extLst xmlns:a="http://schemas.openxmlformats.org/drawingml/2006/main">
              <a:ext uri="{FF2B5EF4-FFF2-40B4-BE49-F238E27FC236}">
                <a16:creationId xmlns:a16="http://schemas.microsoft.com/office/drawing/2014/main" id="{E6C69981-CFA7-432C-9819-AC4B650B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003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D97954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D97954"/>
                </a:solidFill>
                <a:latin typeface="Georgia"/>
                <a:ea typeface="Georgia"/>
                <a:cs typeface="Georgia"/>
              </a:rPr>
              <a:t>ROUTE</a:t>
            </a:r>
          </a:p>
        </p:txBody>
      </p:sp>
      <p:sp>
        <p:nvSpPr>
          <p:cNvPr id="16" name="chain-note-2">
            <a:extLst xmlns:a="http://schemas.openxmlformats.org/drawingml/2006/main">
              <a:ext uri="{FF2B5EF4-FFF2-40B4-BE49-F238E27FC236}">
                <a16:creationId xmlns:a16="http://schemas.microsoft.com/office/drawing/2014/main" id="{33AEBF89-C07E-4C97-B5B6-FB34ABBD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81400"/>
            <a:ext cx="2114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2633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6332B"/>
                </a:solidFill>
                <a:latin typeface="Arial"/>
                <a:ea typeface="Arial"/>
                <a:cs typeface="Arial"/>
              </a:rPr>
              <a:t>OpenRouter × OpenCode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2633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6332B"/>
                </a:solidFill>
                <a:latin typeface="Arial"/>
                <a:ea typeface="Arial"/>
                <a:cs typeface="Arial"/>
              </a:rPr>
              <a:t>Reproducible session policy</a:t>
            </a:r>
          </a:p>
        </p:txBody>
      </p:sp>
      <p:sp>
        <p:nvSpPr>
          <p:cNvPr id="17" name="chain-dot-3">
            <a:extLst xmlns:a="http://schemas.openxmlformats.org/drawingml/2006/main">
              <a:ext uri="{FF2B5EF4-FFF2-40B4-BE49-F238E27FC236}">
                <a16:creationId xmlns:a16="http://schemas.microsoft.com/office/drawing/2014/main" id="{DDC5CEA5-E362-4DB8-B7BA-BA7CFBFB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90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8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ain-num-3">
            <a:extLst xmlns:a="http://schemas.openxmlformats.org/drawingml/2006/main">
              <a:ext uri="{FF2B5EF4-FFF2-40B4-BE49-F238E27FC236}">
                <a16:creationId xmlns:a16="http://schemas.microsoft.com/office/drawing/2014/main" id="{83D2B1A6-12BE-4336-9C36-B2FC0821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048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AF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AF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chain-word-3">
            <a:extLst xmlns:a="http://schemas.openxmlformats.org/drawingml/2006/main">
              <a:ext uri="{FF2B5EF4-FFF2-40B4-BE49-F238E27FC236}">
                <a16:creationId xmlns:a16="http://schemas.microsoft.com/office/drawing/2014/main" id="{30350C8C-2EA6-462B-8E73-D48F6CDE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003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B48A35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B48A35"/>
                </a:solidFill>
                <a:latin typeface="Georgia"/>
                <a:ea typeface="Georgia"/>
                <a:cs typeface="Georgia"/>
              </a:rPr>
              <a:t>PROVE</a:t>
            </a:r>
          </a:p>
        </p:txBody>
      </p:sp>
      <p:sp>
        <p:nvSpPr>
          <p:cNvPr id="20" name="chain-note-3">
            <a:extLst xmlns:a="http://schemas.openxmlformats.org/drawingml/2006/main">
              <a:ext uri="{FF2B5EF4-FFF2-40B4-BE49-F238E27FC236}">
                <a16:creationId xmlns:a16="http://schemas.microsoft.com/office/drawing/2014/main" id="{871B7805-1040-4329-953D-FA75B193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81400"/>
            <a:ext cx="2114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2633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6332B"/>
                </a:solidFill>
                <a:latin typeface="Arial"/>
                <a:ea typeface="Arial"/>
                <a:cs typeface="Arial"/>
              </a:rPr>
              <a:t>Content-free receipt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2633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6332B"/>
                </a:solidFill>
                <a:latin typeface="Arial"/>
                <a:ea typeface="Arial"/>
                <a:cs typeface="Arial"/>
              </a:rPr>
              <a:t>Policy + evidence hashes</a:t>
            </a:r>
          </a:p>
        </p:txBody>
      </p:sp>
      <p:sp>
        <p:nvSpPr>
          <p:cNvPr id="21" name="chain-bottom-band">
            <a:extLst xmlns:a="http://schemas.openxmlformats.org/drawingml/2006/main">
              <a:ext uri="{FF2B5EF4-FFF2-40B4-BE49-F238E27FC236}">
                <a16:creationId xmlns:a16="http://schemas.microsoft.com/office/drawing/2014/main" id="{DBD54D43-36B3-470E-B06F-074F3B2E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108585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1427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hain-bottom">
            <a:extLst xmlns:a="http://schemas.openxmlformats.org/drawingml/2006/main">
              <a:ext uri="{FF2B5EF4-FFF2-40B4-BE49-F238E27FC236}">
                <a16:creationId xmlns:a16="http://schemas.microsoft.com/office/drawing/2014/main" id="{23EC8D01-C091-448B-8E26-6F4A5B1E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76850"/>
            <a:ext cx="1021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FFFAF2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FFFAF2"/>
                </a:solidFill>
                <a:latin typeface="Georgia"/>
                <a:ea typeface="Georgia"/>
                <a:cs typeface="Georgia"/>
              </a:rPr>
              <a:t>No universal weighted rank. No hidden proxy. No pay-to-win placement.</a:t>
            </a:r>
          </a:p>
        </p:txBody>
      </p:sp>
      <p:sp>
        <p:nvSpPr>
          <p:cNvPr id="23" name="footer-brand-4">
            <a:extLst xmlns:a="http://schemas.openxmlformats.org/drawingml/2006/main">
              <a:ext uri="{FF2B5EF4-FFF2-40B4-BE49-F238E27FC236}">
                <a16:creationId xmlns:a16="http://schemas.microsoft.com/office/drawing/2014/main" id="{3DF56D74-E828-4139-8D06-B6C14E4F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6B756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B756E"/>
                </a:solidFill>
                <a:latin typeface="Arial"/>
                <a:ea typeface="Arial"/>
                <a:cs typeface="Arial"/>
              </a:rPr>
              <a:t>FRONTIER MAX</a:t>
            </a:r>
          </a:p>
        </p:txBody>
      </p:sp>
      <p:sp>
        <p:nvSpPr>
          <p:cNvPr id="24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53DC1513-8D18-450A-ABDC-8248FAC2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B756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B756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26913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ask-right-field">
            <a:extLst xmlns:a="http://schemas.openxmlformats.org/drawingml/2006/main">
              <a:ext uri="{FF2B5EF4-FFF2-40B4-BE49-F238E27FC236}">
                <a16:creationId xmlns:a16="http://schemas.microsoft.com/office/drawing/2014/main" id="{97E58242-12B3-40AB-B961-A277051B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ask-eyebrow-rule">
            <a:extLst xmlns:a="http://schemas.openxmlformats.org/drawingml/2006/main">
              <a:ext uri="{FF2B5EF4-FFF2-40B4-BE49-F238E27FC236}">
                <a16:creationId xmlns:a16="http://schemas.microsoft.com/office/drawing/2014/main" id="{28CD92A3-A2D8-4D1A-94A7-C578D4EE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3238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9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ask-eyebrow">
            <a:extLst xmlns:a="http://schemas.openxmlformats.org/drawingml/2006/main">
              <a:ext uri="{FF2B5EF4-FFF2-40B4-BE49-F238E27FC236}">
                <a16:creationId xmlns:a16="http://schemas.microsoft.com/office/drawing/2014/main" id="{338755C0-6F38-45F2-9FF3-768E4673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72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6B756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B756E"/>
                </a:solidFill>
                <a:latin typeface="Arial"/>
                <a:ea typeface="Arial"/>
                <a:cs typeface="Arial"/>
              </a:rPr>
              <a:t>THE PRODUCT MOMENT</a:t>
            </a:r>
          </a:p>
        </p:txBody>
      </p:sp>
      <p:sp>
        <p:nvSpPr>
          <p:cNvPr id="4" name="task-title">
            <a:extLst xmlns:a="http://schemas.openxmlformats.org/drawingml/2006/main">
              <a:ext uri="{FF2B5EF4-FFF2-40B4-BE49-F238E27FC236}">
                <a16:creationId xmlns:a16="http://schemas.microsoft.com/office/drawing/2014/main" id="{7988242A-DC3F-46A0-BEAA-FE854B04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 i="0">
                <a:solidFill>
                  <a:srgbClr val="14271D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4271D"/>
                </a:solidFill>
                <a:latin typeface="Georgia"/>
                <a:ea typeface="Georgia"/>
                <a:cs typeface="Georgia"/>
              </a:rPr>
              <a:t>Describe the work—not the model.</a:t>
            </a:r>
          </a:p>
        </p:txBody>
      </p:sp>
      <p:sp>
        <p:nvSpPr>
          <p:cNvPr id="5" name="task-center-rule">
            <a:extLst xmlns:a="http://schemas.openxmlformats.org/drawingml/2006/main">
              <a:ext uri="{FF2B5EF4-FFF2-40B4-BE49-F238E27FC236}">
                <a16:creationId xmlns:a16="http://schemas.microsoft.com/office/drawing/2014/main" id="{AD5A1F72-6E86-4F4A-A2D1-697269DF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00250"/>
            <a:ext cx="38100" cy="3790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9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ask-left-mode">
            <a:extLst xmlns:a="http://schemas.openxmlformats.org/drawingml/2006/main">
              <a:ext uri="{FF2B5EF4-FFF2-40B4-BE49-F238E27FC236}">
                <a16:creationId xmlns:a16="http://schemas.microsoft.com/office/drawing/2014/main" id="{F9576FB3-71C9-4C5C-A9F7-CC3FE6B0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D97954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97954"/>
                </a:solidFill>
                <a:latin typeface="Arial"/>
                <a:ea typeface="Arial"/>
                <a:cs typeface="Arial"/>
              </a:rPr>
              <a:t>INTERACTIVE</a:t>
            </a:r>
          </a:p>
        </p:txBody>
      </p:sp>
      <p:sp>
        <p:nvSpPr>
          <p:cNvPr id="7" name="task-left-quote">
            <a:extLst xmlns:a="http://schemas.openxmlformats.org/drawingml/2006/main">
              <a:ext uri="{FF2B5EF4-FFF2-40B4-BE49-F238E27FC236}">
                <a16:creationId xmlns:a16="http://schemas.microsoft.com/office/drawing/2014/main" id="{25C1A920-A095-4818-B48D-03F8B6CC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476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 i="0">
                <a:solidFill>
                  <a:srgbClr val="14271D"/>
                </a:solidFill>
                <a:latin typeface="Georgia"/>
                <a:ea typeface="Georgia"/>
                <a:cs typeface="Georgia"/>
              </a:defRPr>
            </a:pPr>
            <a:r>
              <a:rPr sz="2400" b="1" i="0">
                <a:solidFill>
                  <a:srgbClr val="14271D"/>
                </a:solidFill>
                <a:latin typeface="Georgia"/>
                <a:ea typeface="Georgia"/>
                <a:cs typeface="Georgia"/>
              </a:rPr>
              <a:t>“Fix a flaky authentication test while I pair.”</a:t>
            </a:r>
          </a:p>
        </p:txBody>
      </p:sp>
      <p:sp>
        <p:nvSpPr>
          <p:cNvPr id="8" name="task-left-profile">
            <a:extLst xmlns:a="http://schemas.openxmlformats.org/drawingml/2006/main">
              <a:ext uri="{FF2B5EF4-FFF2-40B4-BE49-F238E27FC236}">
                <a16:creationId xmlns:a16="http://schemas.microsoft.com/office/drawing/2014/main" id="{1A249B1B-A83A-4191-BDA5-933D9843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437C69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437C69"/>
                </a:solidFill>
                <a:latin typeface="Arial"/>
                <a:ea typeface="Arial"/>
                <a:cs typeface="Arial"/>
              </a:rPr>
              <a:t>code.interactive</a:t>
            </a:r>
          </a:p>
        </p:txBody>
      </p:sp>
      <p:sp>
        <p:nvSpPr>
          <p:cNvPr id="9" name="task-left-objective">
            <a:extLst xmlns:a="http://schemas.openxmlformats.org/drawingml/2006/main">
              <a:ext uri="{FF2B5EF4-FFF2-40B4-BE49-F238E27FC236}">
                <a16:creationId xmlns:a16="http://schemas.microsoft.com/office/drawing/2014/main" id="{94C926D5-E630-49CC-8A23-50C947A9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2633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6332B"/>
                </a:solidFill>
                <a:latin typeface="Arial"/>
                <a:ea typeface="Arial"/>
                <a:cs typeface="Arial"/>
              </a:rPr>
              <a:t>Current route proxy: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2633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6332B"/>
                </a:solidFill>
                <a:latin typeface="Arial"/>
                <a:ea typeface="Arial"/>
                <a:cs typeface="Arial"/>
              </a:rPr>
              <a:t>fastest p50 throughput in the high coding tier</a:t>
            </a:r>
          </a:p>
        </p:txBody>
      </p:sp>
      <p:sp>
        <p:nvSpPr>
          <p:cNvPr id="10" name="task-right-mode">
            <a:extLst xmlns:a="http://schemas.openxmlformats.org/drawingml/2006/main">
              <a:ext uri="{FF2B5EF4-FFF2-40B4-BE49-F238E27FC236}">
                <a16:creationId xmlns:a16="http://schemas.microsoft.com/office/drawing/2014/main" id="{CF07CFE5-1349-406A-BF36-ABAFE968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90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14271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4271D"/>
                </a:solidFill>
                <a:latin typeface="Arial"/>
                <a:ea typeface="Arial"/>
                <a:cs typeface="Arial"/>
              </a:rPr>
              <a:t>DELEGATED</a:t>
            </a:r>
          </a:p>
        </p:txBody>
      </p:sp>
      <p:sp>
        <p:nvSpPr>
          <p:cNvPr id="11" name="task-right-quote">
            <a:extLst xmlns:a="http://schemas.openxmlformats.org/drawingml/2006/main">
              <a:ext uri="{FF2B5EF4-FFF2-40B4-BE49-F238E27FC236}">
                <a16:creationId xmlns:a16="http://schemas.microsoft.com/office/drawing/2014/main" id="{C6684804-17CF-4EED-8309-BF96FE3F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24150"/>
            <a:ext cx="476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 i="0">
                <a:solidFill>
                  <a:srgbClr val="14271D"/>
                </a:solidFill>
                <a:latin typeface="Georgia"/>
                <a:ea typeface="Georgia"/>
                <a:cs typeface="Georgia"/>
              </a:defRPr>
            </a:pPr>
            <a:r>
              <a:rPr sz="2400" b="1" i="0">
                <a:solidFill>
                  <a:srgbClr val="14271D"/>
                </a:solidFill>
                <a:latin typeface="Georgia"/>
                <a:ea typeface="Georgia"/>
                <a:cs typeface="Georgia"/>
              </a:rPr>
              <a:t>“Migrate thirty endpoints overnight and open a verified PR.”</a:t>
            </a:r>
          </a:p>
        </p:txBody>
      </p:sp>
      <p:sp>
        <p:nvSpPr>
          <p:cNvPr id="12" name="task-right-profile">
            <a:extLst xmlns:a="http://schemas.openxmlformats.org/drawingml/2006/main">
              <a:ext uri="{FF2B5EF4-FFF2-40B4-BE49-F238E27FC236}">
                <a16:creationId xmlns:a16="http://schemas.microsoft.com/office/drawing/2014/main" id="{EAEE14C9-C5DF-4C0E-9CAE-FEAC4383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24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D97954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D97954"/>
                </a:solidFill>
                <a:latin typeface="Arial"/>
                <a:ea typeface="Arial"/>
                <a:cs typeface="Arial"/>
              </a:rPr>
              <a:t>code.delegated</a:t>
            </a:r>
          </a:p>
        </p:txBody>
      </p:sp>
      <p:sp>
        <p:nvSpPr>
          <p:cNvPr id="13" name="task-right-objective">
            <a:extLst xmlns:a="http://schemas.openxmlformats.org/drawingml/2006/main">
              <a:ext uri="{FF2B5EF4-FFF2-40B4-BE49-F238E27FC236}">
                <a16:creationId xmlns:a16="http://schemas.microsoft.com/office/drawing/2014/main" id="{F4804B7E-AB27-41DE-8E49-DC8B15D3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8155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2633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6332B"/>
                </a:solidFill>
                <a:latin typeface="Arial"/>
                <a:ea typeface="Arial"/>
                <a:cs typeface="Arial"/>
              </a:rPr>
              <a:t>Current route proxy: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2633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6332B"/>
                </a:solidFill>
                <a:latin typeface="Arial"/>
                <a:ea typeface="Arial"/>
                <a:cs typeface="Arial"/>
              </a:rPr>
              <a:t>cheapest available model in the high coding tier</a:t>
            </a:r>
          </a:p>
        </p:txBody>
      </p:sp>
      <p:sp>
        <p:nvSpPr>
          <p:cNvPr id="14" name="task-conclusion">
            <a:extLst xmlns:a="http://schemas.openxmlformats.org/drawingml/2006/main">
              <a:ext uri="{FF2B5EF4-FFF2-40B4-BE49-F238E27FC236}">
                <a16:creationId xmlns:a16="http://schemas.microsoft.com/office/drawing/2014/main" id="{83CF172C-26F9-4997-8E9E-D6E9E150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90550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 i="0">
                <a:solidFill>
                  <a:srgbClr val="14271D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14271D"/>
                </a:solidFill>
                <a:latin typeface="Georgia"/>
                <a:ea typeface="Georgia"/>
                <a:cs typeface="Georgia"/>
              </a:rPr>
              <a:t>Same evidence universe. Different objective. Different route.</a:t>
            </a:r>
          </a:p>
        </p:txBody>
      </p:sp>
      <p:sp>
        <p:nvSpPr>
          <p:cNvPr id="15" name="footer-brand-5">
            <a:extLst xmlns:a="http://schemas.openxmlformats.org/drawingml/2006/main">
              <a:ext uri="{FF2B5EF4-FFF2-40B4-BE49-F238E27FC236}">
                <a16:creationId xmlns:a16="http://schemas.microsoft.com/office/drawing/2014/main" id="{D3676AA0-7521-42DF-848F-D8F17EBB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6B756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B756E"/>
                </a:solidFill>
                <a:latin typeface="Arial"/>
                <a:ea typeface="Arial"/>
                <a:cs typeface="Arial"/>
              </a:rPr>
              <a:t>FRONTIER MAX</a:t>
            </a:r>
          </a:p>
        </p:txBody>
      </p:sp>
      <p:sp>
        <p:nvSpPr>
          <p:cNvPr id="16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605D7BC8-1F15-4879-A33F-4780C7C0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B756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B756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476473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427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emini-eyebrow-rule">
            <a:extLst xmlns:a="http://schemas.openxmlformats.org/drawingml/2006/main">
              <a:ext uri="{FF2B5EF4-FFF2-40B4-BE49-F238E27FC236}">
                <a16:creationId xmlns:a16="http://schemas.microsoft.com/office/drawing/2014/main" id="{F0EC7969-F34B-4D9D-B14F-3259B819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3238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9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gemini-eyebrow">
            <a:extLst xmlns:a="http://schemas.openxmlformats.org/drawingml/2006/main">
              <a:ext uri="{FF2B5EF4-FFF2-40B4-BE49-F238E27FC236}">
                <a16:creationId xmlns:a16="http://schemas.microsoft.com/office/drawing/2014/main" id="{39E374EE-F802-4C8F-BB52-6735E9B3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72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D6DDC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6DDCF"/>
                </a:solidFill>
                <a:latin typeface="Arial"/>
                <a:ea typeface="Arial"/>
                <a:cs typeface="Arial"/>
              </a:rPr>
              <a:t>GOOGLE GEMINI</a:t>
            </a:r>
          </a:p>
        </p:txBody>
      </p:sp>
      <p:sp>
        <p:nvSpPr>
          <p:cNvPr id="3" name="gemini-title">
            <a:extLst xmlns:a="http://schemas.openxmlformats.org/drawingml/2006/main">
              <a:ext uri="{FF2B5EF4-FFF2-40B4-BE49-F238E27FC236}">
                <a16:creationId xmlns:a16="http://schemas.microsoft.com/office/drawing/2014/main" id="{ED340B97-9DE0-4BC4-983B-5E8CED24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 i="0">
                <a:solidFill>
                  <a:srgbClr val="FFFAF2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FFFAF2"/>
                </a:solidFill>
                <a:latin typeface="Georgia"/>
                <a:ea typeface="Georgia"/>
                <a:cs typeface="Georgia"/>
              </a:rPr>
              <a:t>Gemini understands intent. Inspectable code decides.</a:t>
            </a:r>
          </a:p>
        </p:txBody>
      </p:sp>
      <p:sp>
        <p:nvSpPr>
          <p:cNvPr id="4" name="gemini-connector-1">
            <a:extLst xmlns:a="http://schemas.openxmlformats.org/drawingml/2006/main">
              <a:ext uri="{FF2B5EF4-FFF2-40B4-BE49-F238E27FC236}">
                <a16:creationId xmlns:a16="http://schemas.microsoft.com/office/drawing/2014/main" id="{9C6ACD3E-5E83-42EB-8DD7-083CF970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238500"/>
            <a:ext cx="304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9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emini-connector-2">
            <a:extLst xmlns:a="http://schemas.openxmlformats.org/drawingml/2006/main">
              <a:ext uri="{FF2B5EF4-FFF2-40B4-BE49-F238E27FC236}">
                <a16:creationId xmlns:a16="http://schemas.microsoft.com/office/drawing/2014/main" id="{58E010F8-FE80-49D0-803F-764A1B91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238500"/>
            <a:ext cx="304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9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emini-connector-3">
            <a:extLst xmlns:a="http://schemas.openxmlformats.org/drawingml/2006/main">
              <a:ext uri="{FF2B5EF4-FFF2-40B4-BE49-F238E27FC236}">
                <a16:creationId xmlns:a16="http://schemas.microsoft.com/office/drawing/2014/main" id="{86E00D9B-2EF5-4D5D-B9D2-D38DD004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38500"/>
            <a:ext cx="304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9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emini-node-0">
            <a:extLst xmlns:a="http://schemas.openxmlformats.org/drawingml/2006/main">
              <a:ext uri="{FF2B5EF4-FFF2-40B4-BE49-F238E27FC236}">
                <a16:creationId xmlns:a16="http://schemas.microsoft.com/office/drawing/2014/main" id="{0831D38A-9FF7-4EC3-B4F9-DA10F7A9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220980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FFF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emini-node-label-0">
            <a:extLst xmlns:a="http://schemas.openxmlformats.org/drawingml/2006/main">
              <a:ext uri="{FF2B5EF4-FFF2-40B4-BE49-F238E27FC236}">
                <a16:creationId xmlns:a16="http://schemas.microsoft.com/office/drawing/2014/main" id="{A988E8CC-A40E-40E3-8845-D3716DB5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14271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4271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gemini-node-title-0">
            <a:extLst xmlns:a="http://schemas.openxmlformats.org/drawingml/2006/main">
              <a:ext uri="{FF2B5EF4-FFF2-40B4-BE49-F238E27FC236}">
                <a16:creationId xmlns:a16="http://schemas.microsoft.com/office/drawing/2014/main" id="{F7022214-1A73-4598-8C76-A925EE36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14271D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14271D"/>
                </a:solidFill>
                <a:latin typeface="Georgia"/>
                <a:ea typeface="Georgia"/>
                <a:cs typeface="Georgia"/>
              </a:rPr>
              <a:t>Task brief</a:t>
            </a:r>
          </a:p>
        </p:txBody>
      </p:sp>
      <p:sp>
        <p:nvSpPr>
          <p:cNvPr id="10" name="gemini-node-body-0">
            <a:extLst xmlns:a="http://schemas.openxmlformats.org/drawingml/2006/main">
              <a:ext uri="{FF2B5EF4-FFF2-40B4-BE49-F238E27FC236}">
                <a16:creationId xmlns:a16="http://schemas.microsoft.com/office/drawing/2014/main" id="{1D5BFDB3-FCC1-4050-B90C-C7D1702F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24250"/>
            <a:ext cx="175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 i="0">
                <a:solidFill>
                  <a:srgbClr val="14271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4271D"/>
                </a:solidFill>
                <a:latin typeface="Arial"/>
                <a:ea typeface="Arial"/>
                <a:cs typeface="Arial"/>
              </a:rPr>
              <a:t>Plain-language work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 i="0">
                <a:solidFill>
                  <a:srgbClr val="14271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4271D"/>
                </a:solidFill>
                <a:latin typeface="Arial"/>
                <a:ea typeface="Arial"/>
                <a:cs typeface="Arial"/>
              </a:rPr>
              <a:t>and constraints</a:t>
            </a:r>
          </a:p>
        </p:txBody>
      </p:sp>
      <p:sp>
        <p:nvSpPr>
          <p:cNvPr id="11" name="gemini-node-1">
            <a:extLst xmlns:a="http://schemas.openxmlformats.org/drawingml/2006/main">
              <a:ext uri="{FF2B5EF4-FFF2-40B4-BE49-F238E27FC236}">
                <a16:creationId xmlns:a16="http://schemas.microsoft.com/office/drawing/2014/main" id="{A962C383-9077-4656-A4F9-874230D2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62200"/>
            <a:ext cx="220980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D979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emini-node-label-1">
            <a:extLst xmlns:a="http://schemas.openxmlformats.org/drawingml/2006/main">
              <a:ext uri="{FF2B5EF4-FFF2-40B4-BE49-F238E27FC236}">
                <a16:creationId xmlns:a16="http://schemas.microsoft.com/office/drawing/2014/main" id="{80C4924C-9E8C-484E-88B0-1A8B71EE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7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14271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4271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gemini-node-title-1">
            <a:extLst xmlns:a="http://schemas.openxmlformats.org/drawingml/2006/main">
              <a:ext uri="{FF2B5EF4-FFF2-40B4-BE49-F238E27FC236}">
                <a16:creationId xmlns:a16="http://schemas.microsoft.com/office/drawing/2014/main" id="{3FB0CEDA-4AD4-4F19-884A-EF65D847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90850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14271D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14271D"/>
                </a:solidFill>
                <a:latin typeface="Georgia"/>
                <a:ea typeface="Georgia"/>
                <a:cs typeface="Georgia"/>
              </a:rPr>
              <a:t>Gemini policy</a:t>
            </a:r>
          </a:p>
        </p:txBody>
      </p:sp>
      <p:sp>
        <p:nvSpPr>
          <p:cNvPr id="14" name="gemini-node-body-1">
            <a:extLst xmlns:a="http://schemas.openxmlformats.org/drawingml/2006/main">
              <a:ext uri="{FF2B5EF4-FFF2-40B4-BE49-F238E27FC236}">
                <a16:creationId xmlns:a16="http://schemas.microsoft.com/office/drawing/2014/main" id="{A5F1C9EE-A78C-4B16-92A7-45531C2A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24250"/>
            <a:ext cx="175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 i="0">
                <a:solidFill>
                  <a:srgbClr val="14271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4271D"/>
                </a:solidFill>
                <a:latin typeface="Arial"/>
                <a:ea typeface="Arial"/>
                <a:cs typeface="Arial"/>
              </a:rPr>
              <a:t>Workload · objective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 i="0">
                <a:solidFill>
                  <a:srgbClr val="14271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4271D"/>
                </a:solidFill>
                <a:latin typeface="Arial"/>
                <a:ea typeface="Arial"/>
                <a:cs typeface="Arial"/>
              </a:rPr>
              <a:t>assumptions · confidence</a:t>
            </a:r>
          </a:p>
        </p:txBody>
      </p:sp>
      <p:sp>
        <p:nvSpPr>
          <p:cNvPr id="15" name="gemini-node-2">
            <a:extLst xmlns:a="http://schemas.openxmlformats.org/drawingml/2006/main">
              <a:ext uri="{FF2B5EF4-FFF2-40B4-BE49-F238E27FC236}">
                <a16:creationId xmlns:a16="http://schemas.microsoft.com/office/drawing/2014/main" id="{ADF76C28-7C08-4A2E-8704-4D48AC0C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62200"/>
            <a:ext cx="220980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BF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emini-node-label-2">
            <a:extLst xmlns:a="http://schemas.openxmlformats.org/drawingml/2006/main">
              <a:ext uri="{FF2B5EF4-FFF2-40B4-BE49-F238E27FC236}">
                <a16:creationId xmlns:a16="http://schemas.microsoft.com/office/drawing/2014/main" id="{04E896EB-DF78-44B7-9843-100FDEFE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7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14271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4271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gemini-node-title-2">
            <a:extLst xmlns:a="http://schemas.openxmlformats.org/drawingml/2006/main">
              <a:ext uri="{FF2B5EF4-FFF2-40B4-BE49-F238E27FC236}">
                <a16:creationId xmlns:a16="http://schemas.microsoft.com/office/drawing/2014/main" id="{683824BC-AAD5-4E5C-8203-25772F2B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90850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14271D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14271D"/>
                </a:solidFill>
                <a:latin typeface="Georgia"/>
                <a:ea typeface="Georgia"/>
                <a:cs typeface="Georgia"/>
              </a:rPr>
              <a:t>Validation</a:t>
            </a:r>
          </a:p>
        </p:txBody>
      </p:sp>
      <p:sp>
        <p:nvSpPr>
          <p:cNvPr id="18" name="gemini-node-body-2">
            <a:extLst xmlns:a="http://schemas.openxmlformats.org/drawingml/2006/main">
              <a:ext uri="{FF2B5EF4-FFF2-40B4-BE49-F238E27FC236}">
                <a16:creationId xmlns:a16="http://schemas.microsoft.com/office/drawing/2014/main" id="{627C193B-42D9-4258-9000-6625C94D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24250"/>
            <a:ext cx="175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 i="0">
                <a:solidFill>
                  <a:srgbClr val="14271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4271D"/>
                </a:solidFill>
                <a:latin typeface="Arial"/>
                <a:ea typeface="Arial"/>
                <a:cs typeface="Arial"/>
              </a:rPr>
              <a:t>Strict schema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 i="0">
                <a:solidFill>
                  <a:srgbClr val="14271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4271D"/>
                </a:solidFill>
                <a:latin typeface="Arial"/>
                <a:ea typeface="Arial"/>
                <a:cs typeface="Arial"/>
              </a:rPr>
              <a:t>hard gates · deterministic rules</a:t>
            </a:r>
          </a:p>
        </p:txBody>
      </p:sp>
      <p:sp>
        <p:nvSpPr>
          <p:cNvPr id="19" name="gemini-node-3">
            <a:extLst xmlns:a="http://schemas.openxmlformats.org/drawingml/2006/main">
              <a:ext uri="{FF2B5EF4-FFF2-40B4-BE49-F238E27FC236}">
                <a16:creationId xmlns:a16="http://schemas.microsoft.com/office/drawing/2014/main" id="{15786BDD-4DD3-4C50-8083-B5A057C0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62200"/>
            <a:ext cx="220980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FFF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emini-node-label-3">
            <a:extLst xmlns:a="http://schemas.openxmlformats.org/drawingml/2006/main">
              <a:ext uri="{FF2B5EF4-FFF2-40B4-BE49-F238E27FC236}">
                <a16:creationId xmlns:a16="http://schemas.microsoft.com/office/drawing/2014/main" id="{F7D4D9DB-B1F8-42C4-8115-18627536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7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14271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4271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gemini-node-title-3">
            <a:extLst xmlns:a="http://schemas.openxmlformats.org/drawingml/2006/main">
              <a:ext uri="{FF2B5EF4-FFF2-40B4-BE49-F238E27FC236}">
                <a16:creationId xmlns:a16="http://schemas.microsoft.com/office/drawing/2014/main" id="{52BCD029-F24C-45DE-A5F7-743E2381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90850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14271D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14271D"/>
                </a:solidFill>
                <a:latin typeface="Georgia"/>
                <a:ea typeface="Georgia"/>
                <a:cs typeface="Georgia"/>
              </a:rPr>
              <a:t>Executable route</a:t>
            </a:r>
          </a:p>
        </p:txBody>
      </p:sp>
      <p:sp>
        <p:nvSpPr>
          <p:cNvPr id="22" name="gemini-node-body-3">
            <a:extLst xmlns:a="http://schemas.openxmlformats.org/drawingml/2006/main">
              <a:ext uri="{FF2B5EF4-FFF2-40B4-BE49-F238E27FC236}">
                <a16:creationId xmlns:a16="http://schemas.microsoft.com/office/drawing/2014/main" id="{71EA9BF1-00EF-4CE6-B3DA-29F2660F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24250"/>
            <a:ext cx="175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 i="0">
                <a:solidFill>
                  <a:srgbClr val="14271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4271D"/>
                </a:solidFill>
                <a:latin typeface="Arial"/>
                <a:ea typeface="Arial"/>
                <a:cs typeface="Arial"/>
              </a:rPr>
              <a:t>OpenRouter → OpenCode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 i="0">
                <a:solidFill>
                  <a:srgbClr val="14271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4271D"/>
                </a:solidFill>
                <a:latin typeface="Arial"/>
                <a:ea typeface="Arial"/>
                <a:cs typeface="Arial"/>
              </a:rPr>
              <a:t>+ decision receipt</a:t>
            </a:r>
          </a:p>
        </p:txBody>
      </p:sp>
      <p:sp>
        <p:nvSpPr>
          <p:cNvPr id="23" name="gemini-principles">
            <a:extLst xmlns:a="http://schemas.openxmlformats.org/drawingml/2006/main">
              <a:ext uri="{FF2B5EF4-FFF2-40B4-BE49-F238E27FC236}">
                <a16:creationId xmlns:a16="http://schemas.microsoft.com/office/drawing/2014/main" id="{A936DDFE-1785-46DB-9B68-9891C4FA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863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 i="0">
                <a:solidFill>
                  <a:srgbClr val="BFD0C2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BFD0C2"/>
                </a:solidFill>
                <a:latin typeface="Arial"/>
                <a:ea typeface="Arial"/>
                <a:cs typeface="Arial"/>
              </a:rPr>
              <a:t>Structured output  ·  explicit assumptions  ·  content-free receipt</a:t>
            </a:r>
          </a:p>
        </p:txBody>
      </p:sp>
      <p:sp>
        <p:nvSpPr>
          <p:cNvPr id="24" name="gemini-privacy-rule">
            <a:extLst xmlns:a="http://schemas.openxmlformats.org/drawingml/2006/main">
              <a:ext uri="{FF2B5EF4-FFF2-40B4-BE49-F238E27FC236}">
                <a16:creationId xmlns:a16="http://schemas.microsoft.com/office/drawing/2014/main" id="{40C76533-5C78-4357-B5AA-9855055D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C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emini-privacy">
            <a:extLst xmlns:a="http://schemas.openxmlformats.org/drawingml/2006/main">
              <a:ext uri="{FF2B5EF4-FFF2-40B4-BE49-F238E27FC236}">
                <a16:creationId xmlns:a16="http://schemas.microsoft.com/office/drawing/2014/main" id="{5C780919-9DA2-4FF3-8ABE-48BAA0A5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81650"/>
            <a:ext cx="10172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 i="0">
                <a:solidFill>
                  <a:srgbClr val="D6DDC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D6DDCF"/>
                </a:solidFill>
                <a:latin typeface="Arial"/>
                <a:ea typeface="Arial"/>
                <a:cs typeface="Arial"/>
              </a:rPr>
              <a:t>Only the short routing brief reaches Gemini. Repository contents, code, diffs, keys, and downstream conversations do not.</a:t>
            </a:r>
          </a:p>
        </p:txBody>
      </p:sp>
      <p:sp>
        <p:nvSpPr>
          <p:cNvPr id="26" name="footer-brand-6">
            <a:extLst xmlns:a="http://schemas.openxmlformats.org/drawingml/2006/main">
              <a:ext uri="{FF2B5EF4-FFF2-40B4-BE49-F238E27FC236}">
                <a16:creationId xmlns:a16="http://schemas.microsoft.com/office/drawing/2014/main" id="{1EBE31BC-9811-48F4-ACD8-6EAB220D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D6DDC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D6DDCF"/>
                </a:solidFill>
                <a:latin typeface="Arial"/>
                <a:ea typeface="Arial"/>
                <a:cs typeface="Arial"/>
              </a:rPr>
              <a:t>FRONTIER MAX</a:t>
            </a:r>
          </a:p>
        </p:txBody>
      </p:sp>
      <p:sp>
        <p:nvSpPr>
          <p:cNvPr id="27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7B009EED-666F-4216-9BE6-583A6E36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D6DDC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D6DDC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575327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usiness-eyebrow-rule">
            <a:extLst xmlns:a="http://schemas.openxmlformats.org/drawingml/2006/main">
              <a:ext uri="{FF2B5EF4-FFF2-40B4-BE49-F238E27FC236}">
                <a16:creationId xmlns:a16="http://schemas.microsoft.com/office/drawing/2014/main" id="{8515A21A-5C82-4BDE-BF8E-8E9DA30F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3238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9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usiness-eyebrow">
            <a:extLst xmlns:a="http://schemas.openxmlformats.org/drawingml/2006/main">
              <a:ext uri="{FF2B5EF4-FFF2-40B4-BE49-F238E27FC236}">
                <a16:creationId xmlns:a16="http://schemas.microsoft.com/office/drawing/2014/main" id="{6FF7CB76-2C71-4E27-82B2-D14DFB3E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72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6B756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B756E"/>
                </a:solidFill>
                <a:latin typeface="Arial"/>
                <a:ea typeface="Arial"/>
                <a:cs typeface="Arial"/>
              </a:rPr>
              <a:t>THE BUSINESS</a:t>
            </a:r>
          </a:p>
        </p:txBody>
      </p:sp>
      <p:sp>
        <p:nvSpPr>
          <p:cNvPr id="3" name="business-title">
            <a:extLst xmlns:a="http://schemas.openxmlformats.org/drawingml/2006/main">
              <a:ext uri="{FF2B5EF4-FFF2-40B4-BE49-F238E27FC236}">
                <a16:creationId xmlns:a16="http://schemas.microsoft.com/office/drawing/2014/main" id="{FA8771F7-C889-487C-8CCC-51BD0148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 i="0">
                <a:solidFill>
                  <a:srgbClr val="14271D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4271D"/>
                </a:solidFill>
                <a:latin typeface="Georgia"/>
                <a:ea typeface="Georgia"/>
                <a:cs typeface="Georgia"/>
              </a:rPr>
              <a:t>Free evidence earns trust. Decisioning captures value.</a:t>
            </a:r>
          </a:p>
        </p:txBody>
      </p:sp>
      <p:sp>
        <p:nvSpPr>
          <p:cNvPr id="4" name="business-top-rule-0">
            <a:extLst xmlns:a="http://schemas.openxmlformats.org/drawingml/2006/main">
              <a:ext uri="{FF2B5EF4-FFF2-40B4-BE49-F238E27FC236}">
                <a16:creationId xmlns:a16="http://schemas.microsoft.com/office/drawing/2014/main" id="{1BCE3080-7E4B-45A8-8BD6-5C8D1044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87655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979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usiness-label-0">
            <a:extLst xmlns:a="http://schemas.openxmlformats.org/drawingml/2006/main">
              <a:ext uri="{FF2B5EF4-FFF2-40B4-BE49-F238E27FC236}">
                <a16:creationId xmlns:a16="http://schemas.microsoft.com/office/drawing/2014/main" id="{B6DDDA7D-67C3-4B5E-9597-BC13CA02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D9795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97954"/>
                </a:solidFill>
                <a:latin typeface="Arial"/>
                <a:ea typeface="Arial"/>
                <a:cs typeface="Arial"/>
              </a:rPr>
              <a:t>WEDGE</a:t>
            </a:r>
          </a:p>
        </p:txBody>
      </p:sp>
      <p:sp>
        <p:nvSpPr>
          <p:cNvPr id="6" name="business-heading-0">
            <a:extLst xmlns:a="http://schemas.openxmlformats.org/drawingml/2006/main">
              <a:ext uri="{FF2B5EF4-FFF2-40B4-BE49-F238E27FC236}">
                <a16:creationId xmlns:a16="http://schemas.microsoft.com/office/drawing/2014/main" id="{3B5D3040-AFDA-447C-9B28-FC7000F3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2876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325" b="1" i="0">
                <a:solidFill>
                  <a:srgbClr val="14271D"/>
                </a:solidFill>
                <a:latin typeface="Georgia"/>
                <a:ea typeface="Georgia"/>
                <a:cs typeface="Georgia"/>
              </a:defRPr>
            </a:pPr>
            <a:r>
              <a:rPr sz="2325" b="1" i="0">
                <a:solidFill>
                  <a:srgbClr val="14271D"/>
                </a:solidFill>
                <a:latin typeface="Georgia"/>
                <a:ea typeface="Georgia"/>
                <a:cs typeface="Georgia"/>
              </a:rPr>
              <a:t>Coding-agent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2325" b="1" i="0">
                <a:solidFill>
                  <a:srgbClr val="14271D"/>
                </a:solidFill>
                <a:latin typeface="Georgia"/>
                <a:ea typeface="Georgia"/>
                <a:cs typeface="Georgia"/>
              </a:defRPr>
            </a:pPr>
            <a:r>
              <a:rPr sz="2325" b="1" i="0">
                <a:solidFill>
                  <a:srgbClr val="14271D"/>
                </a:solidFill>
                <a:latin typeface="Georgia"/>
                <a:ea typeface="Georgia"/>
                <a:cs typeface="Georgia"/>
              </a:rPr>
              <a:t>model selection</a:t>
            </a:r>
          </a:p>
        </p:txBody>
      </p:sp>
      <p:sp>
        <p:nvSpPr>
          <p:cNvPr id="7" name="business-body-0">
            <a:extLst xmlns:a="http://schemas.openxmlformats.org/drawingml/2006/main">
              <a:ext uri="{FF2B5EF4-FFF2-40B4-BE49-F238E27FC236}">
                <a16:creationId xmlns:a16="http://schemas.microsoft.com/office/drawing/2014/main" id="{EE380C57-933C-4007-BEC3-4EED388F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2876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 i="0">
                <a:solidFill>
                  <a:srgbClr val="6B756E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B756E"/>
                </a:solidFill>
                <a:latin typeface="Arial"/>
                <a:ea typeface="Arial"/>
                <a:cs typeface="Arial"/>
              </a:rPr>
              <a:t>A visible difference between interactive and delegated work.</a:t>
            </a:r>
          </a:p>
        </p:txBody>
      </p:sp>
      <p:sp>
        <p:nvSpPr>
          <p:cNvPr id="8" name="business-top-rule-1">
            <a:extLst xmlns:a="http://schemas.openxmlformats.org/drawingml/2006/main">
              <a:ext uri="{FF2B5EF4-FFF2-40B4-BE49-F238E27FC236}">
                <a16:creationId xmlns:a16="http://schemas.microsoft.com/office/drawing/2014/main" id="{8A194BCD-894D-4591-9FF2-54010243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286000"/>
            <a:ext cx="327660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437C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siness-label-1">
            <a:extLst xmlns:a="http://schemas.openxmlformats.org/drawingml/2006/main">
              <a:ext uri="{FF2B5EF4-FFF2-40B4-BE49-F238E27FC236}">
                <a16:creationId xmlns:a16="http://schemas.microsoft.com/office/drawing/2014/main" id="{550DFD93-34F6-4129-A657-3632076C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552700"/>
            <a:ext cx="327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437C69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37C69"/>
                </a:solidFill>
                <a:latin typeface="Arial"/>
                <a:ea typeface="Arial"/>
                <a:cs typeface="Arial"/>
              </a:rPr>
              <a:t>BUYER</a:t>
            </a:r>
          </a:p>
        </p:txBody>
      </p:sp>
      <p:sp>
        <p:nvSpPr>
          <p:cNvPr id="10" name="business-heading-1">
            <a:extLst xmlns:a="http://schemas.openxmlformats.org/drawingml/2006/main">
              <a:ext uri="{FF2B5EF4-FFF2-40B4-BE49-F238E27FC236}">
                <a16:creationId xmlns:a16="http://schemas.microsoft.com/office/drawing/2014/main" id="{05048FCE-1864-4B32-8BD4-36DF1B5A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48000"/>
            <a:ext cx="3276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325" b="1" i="0">
                <a:solidFill>
                  <a:srgbClr val="14271D"/>
                </a:solidFill>
                <a:latin typeface="Georgia"/>
                <a:ea typeface="Georgia"/>
                <a:cs typeface="Georgia"/>
              </a:defRPr>
            </a:pPr>
            <a:r>
              <a:rPr sz="2325" b="1" i="0">
                <a:solidFill>
                  <a:srgbClr val="14271D"/>
                </a:solidFill>
                <a:latin typeface="Georgia"/>
                <a:ea typeface="Georgia"/>
                <a:cs typeface="Georgia"/>
              </a:rPr>
              <a:t>AI platform,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2325" b="1" i="0">
                <a:solidFill>
                  <a:srgbClr val="14271D"/>
                </a:solidFill>
                <a:latin typeface="Georgia"/>
                <a:ea typeface="Georgia"/>
                <a:cs typeface="Georgia"/>
              </a:defRPr>
            </a:pPr>
            <a:r>
              <a:rPr sz="2325" b="1" i="0">
                <a:solidFill>
                  <a:srgbClr val="14271D"/>
                </a:solidFill>
                <a:latin typeface="Georgia"/>
                <a:ea typeface="Georgia"/>
                <a:cs typeface="Georgia"/>
              </a:rPr>
              <a:t>engineering, FinOps</a:t>
            </a:r>
          </a:p>
        </p:txBody>
      </p:sp>
      <p:sp>
        <p:nvSpPr>
          <p:cNvPr id="11" name="business-body-1">
            <a:extLst xmlns:a="http://schemas.openxmlformats.org/drawingml/2006/main">
              <a:ext uri="{FF2B5EF4-FFF2-40B4-BE49-F238E27FC236}">
                <a16:creationId xmlns:a16="http://schemas.microsoft.com/office/drawing/2014/main" id="{1B02ABC7-9857-44E6-AC78-C94C69EF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267200"/>
            <a:ext cx="3276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 i="0">
                <a:solidFill>
                  <a:srgbClr val="6B756E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B756E"/>
                </a:solidFill>
                <a:latin typeface="Arial"/>
                <a:ea typeface="Arial"/>
                <a:cs typeface="Arial"/>
              </a:rPr>
              <a:t>Teams spending real money across multiple models and providers.</a:t>
            </a:r>
          </a:p>
        </p:txBody>
      </p:sp>
      <p:sp>
        <p:nvSpPr>
          <p:cNvPr id="12" name="business-top-rule-2">
            <a:extLst xmlns:a="http://schemas.openxmlformats.org/drawingml/2006/main">
              <a:ext uri="{FF2B5EF4-FFF2-40B4-BE49-F238E27FC236}">
                <a16:creationId xmlns:a16="http://schemas.microsoft.com/office/drawing/2014/main" id="{8440DA9F-DE0C-4524-BF1E-D07618B7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86000"/>
            <a:ext cx="384810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B48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siness-label-2">
            <a:extLst xmlns:a="http://schemas.openxmlformats.org/drawingml/2006/main">
              <a:ext uri="{FF2B5EF4-FFF2-40B4-BE49-F238E27FC236}">
                <a16:creationId xmlns:a16="http://schemas.microsoft.com/office/drawing/2014/main" id="{142C3122-F47B-4E01-AADD-24C6628F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552700"/>
            <a:ext cx="3848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B48A3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B48A35"/>
                </a:solidFill>
                <a:latin typeface="Arial"/>
                <a:ea typeface="Arial"/>
                <a:cs typeface="Arial"/>
              </a:rPr>
              <a:t>REVENUE</a:t>
            </a:r>
          </a:p>
        </p:txBody>
      </p:sp>
      <p:sp>
        <p:nvSpPr>
          <p:cNvPr id="14" name="business-heading-2">
            <a:extLst xmlns:a="http://schemas.openxmlformats.org/drawingml/2006/main">
              <a:ext uri="{FF2B5EF4-FFF2-40B4-BE49-F238E27FC236}">
                <a16:creationId xmlns:a16="http://schemas.microsoft.com/office/drawing/2014/main" id="{8CCE0C53-F72B-421E-9062-B3DA7E6D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48000"/>
            <a:ext cx="3848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325" b="1" i="0">
                <a:solidFill>
                  <a:srgbClr val="14271D"/>
                </a:solidFill>
                <a:latin typeface="Georgia"/>
                <a:ea typeface="Georgia"/>
                <a:cs typeface="Georgia"/>
              </a:defRPr>
            </a:pPr>
            <a:r>
              <a:rPr sz="2325" b="1" i="0">
                <a:solidFill>
                  <a:srgbClr val="14271D"/>
                </a:solidFill>
                <a:latin typeface="Georgia"/>
                <a:ea typeface="Georgia"/>
                <a:cs typeface="Georgia"/>
              </a:rPr>
              <a:t>Policies, alerts,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2325" b="1" i="0">
                <a:solidFill>
                  <a:srgbClr val="14271D"/>
                </a:solidFill>
                <a:latin typeface="Georgia"/>
                <a:ea typeface="Georgia"/>
                <a:cs typeface="Georgia"/>
              </a:defRPr>
            </a:pPr>
            <a:r>
              <a:rPr sz="2325" b="1" i="0">
                <a:solidFill>
                  <a:srgbClr val="14271D"/>
                </a:solidFill>
                <a:latin typeface="Georgia"/>
                <a:ea typeface="Georgia"/>
                <a:cs typeface="Georgia"/>
              </a:rPr>
              <a:t>governance, routing API</a:t>
            </a:r>
          </a:p>
        </p:txBody>
      </p:sp>
      <p:sp>
        <p:nvSpPr>
          <p:cNvPr id="15" name="business-body-2">
            <a:extLst xmlns:a="http://schemas.openxmlformats.org/drawingml/2006/main">
              <a:ext uri="{FF2B5EF4-FFF2-40B4-BE49-F238E27FC236}">
                <a16:creationId xmlns:a16="http://schemas.microsoft.com/office/drawing/2014/main" id="{5F4034D0-C1DE-49F4-BAD8-7418590E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267200"/>
            <a:ext cx="3848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 i="0">
                <a:solidFill>
                  <a:srgbClr val="6B756E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B756E"/>
                </a:solidFill>
                <a:latin typeface="Arial"/>
                <a:ea typeface="Arial"/>
                <a:cs typeface="Arial"/>
              </a:rPr>
              <a:t>Shared decisions and audit-ready selection inside production workflows.</a:t>
            </a:r>
          </a:p>
        </p:txBody>
      </p:sp>
      <p:sp>
        <p:nvSpPr>
          <p:cNvPr id="16" name="business-moat-band">
            <a:extLst xmlns:a="http://schemas.openxmlformats.org/drawingml/2006/main">
              <a:ext uri="{FF2B5EF4-FFF2-40B4-BE49-F238E27FC236}">
                <a16:creationId xmlns:a16="http://schemas.microsoft.com/office/drawing/2014/main" id="{1536FE78-B916-4812-AE1C-DEF0C85B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85850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1427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siness-moat-label">
            <a:extLst xmlns:a="http://schemas.openxmlformats.org/drawingml/2006/main">
              <a:ext uri="{FF2B5EF4-FFF2-40B4-BE49-F238E27FC236}">
                <a16:creationId xmlns:a16="http://schemas.microsoft.com/office/drawing/2014/main" id="{2C1EF8C7-B7D6-4004-B8A8-783C563A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5785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D97954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97954"/>
                </a:solidFill>
                <a:latin typeface="Arial"/>
                <a:ea typeface="Arial"/>
                <a:cs typeface="Arial"/>
              </a:rPr>
              <a:t>DURABLE MOAT</a:t>
            </a:r>
          </a:p>
        </p:txBody>
      </p:sp>
      <p:sp>
        <p:nvSpPr>
          <p:cNvPr id="18" name="business-moat">
            <a:extLst xmlns:a="http://schemas.openxmlformats.org/drawingml/2006/main">
              <a:ext uri="{FF2B5EF4-FFF2-40B4-BE49-F238E27FC236}">
                <a16:creationId xmlns:a16="http://schemas.microsoft.com/office/drawing/2014/main" id="{54EDBED4-9944-427D-8114-BAB183FF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6197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650" b="1" i="0">
                <a:solidFill>
                  <a:srgbClr val="FFFAF2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AF2"/>
                </a:solidFill>
                <a:latin typeface="Arial"/>
                <a:ea typeface="Arial"/>
                <a:cs typeface="Arial"/>
              </a:rPr>
              <a:t>Historical provenance + the workload policies teams operationalize</a:t>
            </a:r>
          </a:p>
        </p:txBody>
      </p:sp>
      <p:sp>
        <p:nvSpPr>
          <p:cNvPr id="19" name="footer-brand-7">
            <a:extLst xmlns:a="http://schemas.openxmlformats.org/drawingml/2006/main">
              <a:ext uri="{FF2B5EF4-FFF2-40B4-BE49-F238E27FC236}">
                <a16:creationId xmlns:a16="http://schemas.microsoft.com/office/drawing/2014/main" id="{1F939858-DFD9-43BE-BCBA-6AB5E7C7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6B756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B756E"/>
                </a:solidFill>
                <a:latin typeface="Arial"/>
                <a:ea typeface="Arial"/>
                <a:cs typeface="Arial"/>
              </a:rPr>
              <a:t>FRONTIER MAX</a:t>
            </a:r>
          </a:p>
        </p:txBody>
      </p:sp>
      <p:sp>
        <p:nvSpPr>
          <p:cNvPr id="20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0B17F082-08BB-46EB-9F8E-AE201CCE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B756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B756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868918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427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lose-paper-field">
            <a:extLst xmlns:a="http://schemas.openxmlformats.org/drawingml/2006/main">
              <a:ext uri="{FF2B5EF4-FFF2-40B4-BE49-F238E27FC236}">
                <a16:creationId xmlns:a16="http://schemas.microsoft.com/office/drawing/2014/main" id="{EEFE227C-2E1A-4590-A49F-31B56344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0"/>
            <a:ext cx="4343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lose-clay-stripe">
            <a:extLst xmlns:a="http://schemas.openxmlformats.org/drawingml/2006/main">
              <a:ext uri="{FF2B5EF4-FFF2-40B4-BE49-F238E27FC236}">
                <a16:creationId xmlns:a16="http://schemas.microsoft.com/office/drawing/2014/main" id="{DB9106DB-082E-48E8-90B3-EA41D7E9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9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lose-eyebrow-rule">
            <a:extLst xmlns:a="http://schemas.openxmlformats.org/drawingml/2006/main">
              <a:ext uri="{FF2B5EF4-FFF2-40B4-BE49-F238E27FC236}">
                <a16:creationId xmlns:a16="http://schemas.microsoft.com/office/drawing/2014/main" id="{723618A7-E3DB-41DD-8467-EE22F531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3238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9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417D9816-FBC1-48C6-A347-0BDBC6A7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72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D6DDC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6DDCF"/>
                </a:solidFill>
                <a:latin typeface="Arial"/>
                <a:ea typeface="Arial"/>
                <a:cs typeface="Arial"/>
              </a:rPr>
              <a:t>THE ASK</a:t>
            </a:r>
          </a:p>
        </p:txBody>
      </p:sp>
      <p:sp>
        <p:nvSpPr>
          <p:cNvPr id="5" name="close-title">
            <a:extLst xmlns:a="http://schemas.openxmlformats.org/drawingml/2006/main">
              <a:ext uri="{FF2B5EF4-FFF2-40B4-BE49-F238E27FC236}">
                <a16:creationId xmlns:a16="http://schemas.microsoft.com/office/drawing/2014/main" id="{52F048E4-5C64-462E-B5E5-AADBFE76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6191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050" b="1" i="0">
                <a:solidFill>
                  <a:srgbClr val="FFFAF2"/>
                </a:solidFill>
                <a:latin typeface="Georgia"/>
                <a:ea typeface="Georgia"/>
                <a:cs typeface="Georgia"/>
              </a:defRPr>
            </a:pPr>
            <a:r>
              <a:rPr sz="4050" b="1" i="0">
                <a:solidFill>
                  <a:srgbClr val="FFFAF2"/>
                </a:solidFill>
                <a:latin typeface="Georgia"/>
                <a:ea typeface="Georgia"/>
                <a:cs typeface="Georgia"/>
              </a:rPr>
              <a:t>The benchmark layer is becoming a control plane.</a:t>
            </a:r>
          </a:p>
        </p:txBody>
      </p:sp>
      <p:sp>
        <p:nvSpPr>
          <p:cNvPr id="6" name="close-resolution">
            <a:extLst xmlns:a="http://schemas.openxmlformats.org/drawingml/2006/main">
              <a:ext uri="{FF2B5EF4-FFF2-40B4-BE49-F238E27FC236}">
                <a16:creationId xmlns:a16="http://schemas.microsoft.com/office/drawing/2014/main" id="{EB7AB074-C0DC-45BB-9EFE-E705F261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5981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0" i="0">
                <a:solidFill>
                  <a:srgbClr val="BFD0C2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BFD0C2"/>
                </a:solidFill>
                <a:latin typeface="Arial"/>
                <a:ea typeface="Arial"/>
                <a:cs typeface="Arial"/>
              </a:rPr>
              <a:t>Help turn every benchmark into a decision teams can defend—and execute.</a:t>
            </a:r>
          </a:p>
        </p:txBody>
      </p:sp>
      <p:sp>
        <p:nvSpPr>
          <p:cNvPr id="7" name="close-team-label">
            <a:extLst xmlns:a="http://schemas.openxmlformats.org/drawingml/2006/main">
              <a:ext uri="{FF2B5EF4-FFF2-40B4-BE49-F238E27FC236}">
                <a16:creationId xmlns:a16="http://schemas.microsoft.com/office/drawing/2014/main" id="{1BC5B730-4E7B-4C5A-9A42-B9E27166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D97954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D97954"/>
                </a:solidFill>
                <a:latin typeface="Arial"/>
                <a:ea typeface="Arial"/>
                <a:cs typeface="Arial"/>
              </a:rPr>
              <a:t>BUILT BY</a:t>
            </a:r>
          </a:p>
        </p:txBody>
      </p:sp>
      <p:sp>
        <p:nvSpPr>
          <p:cNvPr id="8" name="close-team">
            <a:extLst xmlns:a="http://schemas.openxmlformats.org/drawingml/2006/main">
              <a:ext uri="{FF2B5EF4-FFF2-40B4-BE49-F238E27FC236}">
                <a16:creationId xmlns:a16="http://schemas.microsoft.com/office/drawing/2014/main" id="{1AC6AA4E-2486-4294-A0B8-69AE4879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AF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AF2"/>
                </a:solidFill>
                <a:latin typeface="Arial"/>
                <a:ea typeface="Arial"/>
                <a:cs typeface="Arial"/>
              </a:rPr>
              <a:t>Monil Patel  ·  Staff Applied AI  ·  7 years at Meta</a:t>
            </a:r>
          </a:p>
        </p:txBody>
      </p:sp>
      <p:sp>
        <p:nvSpPr>
          <p:cNvPr id="9" name="close-team-detail">
            <a:extLst xmlns:a="http://schemas.openxmlformats.org/drawingml/2006/main">
              <a:ext uri="{FF2B5EF4-FFF2-40B4-BE49-F238E27FC236}">
                <a16:creationId xmlns:a16="http://schemas.microsoft.com/office/drawing/2014/main" id="{2D034A38-9584-48B9-9FA8-84EFCE7F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D6DDC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6DDCF"/>
                </a:solidFill>
                <a:latin typeface="Arial"/>
                <a:ea typeface="Arial"/>
                <a:cs typeface="Arial"/>
              </a:rPr>
              <a:t>Evaluation, post-training, and coding-agent systems</a:t>
            </a:r>
          </a:p>
        </p:txBody>
      </p:sp>
      <p:sp>
        <p:nvSpPr>
          <p:cNvPr id="10" name="close-right-label">
            <a:extLst xmlns:a="http://schemas.openxmlformats.org/drawingml/2006/main">
              <a:ext uri="{FF2B5EF4-FFF2-40B4-BE49-F238E27FC236}">
                <a16:creationId xmlns:a16="http://schemas.microsoft.com/office/drawing/2014/main" id="{94D66070-E2B0-49B9-A8E2-C7F4AC2E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1049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D9795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97954"/>
                </a:solidFill>
                <a:latin typeface="Arial"/>
                <a:ea typeface="Arial"/>
                <a:cs typeface="Arial"/>
              </a:rPr>
              <a:t>WE’RE LOOKING FOR</a:t>
            </a:r>
          </a:p>
        </p:txBody>
      </p:sp>
      <p:sp>
        <p:nvSpPr>
          <p:cNvPr id="11" name="close-ask-num-0">
            <a:extLst xmlns:a="http://schemas.openxmlformats.org/drawingml/2006/main">
              <a:ext uri="{FF2B5EF4-FFF2-40B4-BE49-F238E27FC236}">
                <a16:creationId xmlns:a16="http://schemas.microsoft.com/office/drawing/2014/main" id="{08C31E95-E85C-470D-943F-5725732F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52600"/>
            <a:ext cx="72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437C69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437C69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12" name="close-ask-heading-0">
            <a:extLst xmlns:a="http://schemas.openxmlformats.org/drawingml/2006/main">
              <a:ext uri="{FF2B5EF4-FFF2-40B4-BE49-F238E27FC236}">
                <a16:creationId xmlns:a16="http://schemas.microsoft.com/office/drawing/2014/main" id="{67E950D8-12EB-4D83-8180-582BF1AA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526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14271D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14271D"/>
                </a:solidFill>
                <a:latin typeface="Georgia"/>
                <a:ea typeface="Georgia"/>
                <a:cs typeface="Georgia"/>
              </a:rPr>
              <a:t>design partners</a:t>
            </a:r>
          </a:p>
        </p:txBody>
      </p:sp>
      <p:sp>
        <p:nvSpPr>
          <p:cNvPr id="13" name="close-ask-detail-0">
            <a:extLst xmlns:a="http://schemas.openxmlformats.org/drawingml/2006/main">
              <a:ext uri="{FF2B5EF4-FFF2-40B4-BE49-F238E27FC236}">
                <a16:creationId xmlns:a16="http://schemas.microsoft.com/office/drawing/2014/main" id="{CE64FC6A-7D6D-4E01-935F-0032DF05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717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6B756E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B756E"/>
                </a:solidFill>
                <a:latin typeface="Arial"/>
                <a:ea typeface="Arial"/>
                <a:cs typeface="Arial"/>
              </a:rPr>
              <a:t>Costly multi-model workflows</a:t>
            </a:r>
          </a:p>
        </p:txBody>
      </p:sp>
      <p:sp>
        <p:nvSpPr>
          <p:cNvPr id="14" name="close-ask-rule-0">
            <a:extLst xmlns:a="http://schemas.openxmlformats.org/drawingml/2006/main">
              <a:ext uri="{FF2B5EF4-FFF2-40B4-BE49-F238E27FC236}">
                <a16:creationId xmlns:a16="http://schemas.microsoft.com/office/drawing/2014/main" id="{C667EC86-F029-43D9-B3E2-633D68FD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43200"/>
            <a:ext cx="300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2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lose-ask-num-1">
            <a:extLst xmlns:a="http://schemas.openxmlformats.org/drawingml/2006/main">
              <a:ext uri="{FF2B5EF4-FFF2-40B4-BE49-F238E27FC236}">
                <a16:creationId xmlns:a16="http://schemas.microsoft.com/office/drawing/2014/main" id="{9EF6ED87-56A4-440E-BB0A-DCBA4BCC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09900"/>
            <a:ext cx="72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437C69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437C69"/>
                </a:solidFill>
                <a:latin typeface="Georgia"/>
                <a:ea typeface="Georgia"/>
                <a:cs typeface="Georgia"/>
              </a:rPr>
              <a:t>GCP</a:t>
            </a:r>
          </a:p>
        </p:txBody>
      </p:sp>
      <p:sp>
        <p:nvSpPr>
          <p:cNvPr id="16" name="close-ask-heading-1">
            <a:extLst xmlns:a="http://schemas.openxmlformats.org/drawingml/2006/main">
              <a:ext uri="{FF2B5EF4-FFF2-40B4-BE49-F238E27FC236}">
                <a16:creationId xmlns:a16="http://schemas.microsoft.com/office/drawing/2014/main" id="{70E4A2D1-7DAF-4F22-BCE2-9A688332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099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14271D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14271D"/>
                </a:solidFill>
                <a:latin typeface="Georgia"/>
                <a:ea typeface="Georgia"/>
                <a:cs typeface="Georgia"/>
              </a:rPr>
              <a:t>product support</a:t>
            </a:r>
          </a:p>
        </p:txBody>
      </p:sp>
      <p:sp>
        <p:nvSpPr>
          <p:cNvPr id="17" name="close-ask-detail-1">
            <a:extLst xmlns:a="http://schemas.openxmlformats.org/drawingml/2006/main">
              <a:ext uri="{FF2B5EF4-FFF2-40B4-BE49-F238E27FC236}">
                <a16:creationId xmlns:a16="http://schemas.microsoft.com/office/drawing/2014/main" id="{696BB0DD-9D50-4A24-94E8-B34D9A4D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290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6B756E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B756E"/>
                </a:solidFill>
                <a:latin typeface="Arial"/>
                <a:ea typeface="Arial"/>
                <a:cs typeface="Arial"/>
              </a:rPr>
              <a:t>Gemini decision layer</a:t>
            </a:r>
          </a:p>
        </p:txBody>
      </p:sp>
      <p:sp>
        <p:nvSpPr>
          <p:cNvPr id="18" name="close-ask-rule-1">
            <a:extLst xmlns:a="http://schemas.openxmlformats.org/drawingml/2006/main">
              <a:ext uri="{FF2B5EF4-FFF2-40B4-BE49-F238E27FC236}">
                <a16:creationId xmlns:a16="http://schemas.microsoft.com/office/drawing/2014/main" id="{D314CDF6-9E91-45F2-91A7-848A05BB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00500"/>
            <a:ext cx="300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2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lose-ask-num-2">
            <a:extLst xmlns:a="http://schemas.openxmlformats.org/drawingml/2006/main">
              <a:ext uri="{FF2B5EF4-FFF2-40B4-BE49-F238E27FC236}">
                <a16:creationId xmlns:a16="http://schemas.microsoft.com/office/drawing/2014/main" id="{11CBB9D8-7F89-46AD-AB6B-A5218B19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67200"/>
            <a:ext cx="72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437C69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437C69"/>
                </a:solidFill>
                <a:latin typeface="Georgia"/>
                <a:ea typeface="Georgia"/>
                <a:cs typeface="Georgia"/>
              </a:rPr>
              <a:t>VC</a:t>
            </a:r>
          </a:p>
        </p:txBody>
      </p:sp>
      <p:sp>
        <p:nvSpPr>
          <p:cNvPr id="20" name="close-ask-heading-2">
            <a:extLst xmlns:a="http://schemas.openxmlformats.org/drawingml/2006/main">
              <a:ext uri="{FF2B5EF4-FFF2-40B4-BE49-F238E27FC236}">
                <a16:creationId xmlns:a16="http://schemas.microsoft.com/office/drawing/2014/main" id="{4B6C076B-A3B8-4F0A-A91D-0EC6AB05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672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14271D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14271D"/>
                </a:solidFill>
                <a:latin typeface="Georgia"/>
                <a:ea typeface="Georgia"/>
                <a:cs typeface="Georgia"/>
              </a:rPr>
              <a:t>investor partners</a:t>
            </a:r>
          </a:p>
        </p:txBody>
      </p:sp>
      <p:sp>
        <p:nvSpPr>
          <p:cNvPr id="21" name="close-ask-detail-2">
            <a:extLst xmlns:a="http://schemas.openxmlformats.org/drawingml/2006/main">
              <a:ext uri="{FF2B5EF4-FFF2-40B4-BE49-F238E27FC236}">
                <a16:creationId xmlns:a16="http://schemas.microsoft.com/office/drawing/2014/main" id="{92D83F9F-C011-4054-97E5-9AE3F67E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6863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6B756E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B756E"/>
                </a:solidFill>
                <a:latin typeface="Arial"/>
                <a:ea typeface="Arial"/>
                <a:cs typeface="Arial"/>
              </a:rPr>
              <a:t>A durable model-selection control plane</a:t>
            </a:r>
          </a:p>
        </p:txBody>
      </p:sp>
      <p:sp>
        <p:nvSpPr>
          <p:cNvPr id="22" name="close-brand">
            <a:extLst xmlns:a="http://schemas.openxmlformats.org/drawingml/2006/main">
              <a:ext uri="{FF2B5EF4-FFF2-40B4-BE49-F238E27FC236}">
                <a16:creationId xmlns:a16="http://schemas.microsoft.com/office/drawing/2014/main" id="{92F7248B-1D53-4165-A052-EC1ACFFB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959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325" b="1" i="0">
                <a:solidFill>
                  <a:srgbClr val="14271D"/>
                </a:solidFill>
                <a:latin typeface="Georgia"/>
                <a:ea typeface="Georgia"/>
                <a:cs typeface="Georgia"/>
              </a:defRPr>
            </a:pPr>
            <a:r>
              <a:rPr sz="2325" b="1" i="0">
                <a:solidFill>
                  <a:srgbClr val="14271D"/>
                </a:solidFill>
                <a:latin typeface="Georgia"/>
                <a:ea typeface="Georgia"/>
                <a:cs typeface="Georgia"/>
              </a:rPr>
              <a:t>Frontier Max</a:t>
            </a:r>
          </a:p>
        </p:txBody>
      </p:sp>
      <p:sp>
        <p:nvSpPr>
          <p:cNvPr id="23" name="close-url">
            <a:extLst xmlns:a="http://schemas.openxmlformats.org/drawingml/2006/main">
              <a:ext uri="{FF2B5EF4-FFF2-40B4-BE49-F238E27FC236}">
                <a16:creationId xmlns:a16="http://schemas.microsoft.com/office/drawing/2014/main" id="{EA77FC69-1C67-4067-89E3-E43A92C6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1341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B756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B756E"/>
                </a:solidFill>
                <a:latin typeface="Arial"/>
                <a:ea typeface="Arial"/>
                <a:cs typeface="Arial"/>
              </a:rPr>
              <a:t>agent-frontier.monilpat.chatgpt.site</a:t>
            </a:r>
          </a:p>
        </p:txBody>
      </p:sp>
      <p:sp>
        <p:nvSpPr>
          <p:cNvPr id="24" name="footer-brand-8">
            <a:extLst xmlns:a="http://schemas.openxmlformats.org/drawingml/2006/main">
              <a:ext uri="{FF2B5EF4-FFF2-40B4-BE49-F238E27FC236}">
                <a16:creationId xmlns:a16="http://schemas.microsoft.com/office/drawing/2014/main" id="{47B0FCFA-1DA5-4243-B340-8EC149B0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D6DDC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D6DDCF"/>
                </a:solidFill>
                <a:latin typeface="Arial"/>
                <a:ea typeface="Arial"/>
                <a:cs typeface="Arial"/>
              </a:rPr>
              <a:t>FRONTIER MAX</a:t>
            </a:r>
          </a:p>
        </p:txBody>
      </p:sp>
      <p:sp>
        <p:nvSpPr>
          <p:cNvPr id="25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93BDCE96-D3D8-4710-AFF7-C44A8E8D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D6DDC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D6DDC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311747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2026-07-18T21:46:08.7970000Z</dcterms:created>
  <dcterms:modified xsi:type="dcterms:W3CDTF">2026-07-18T21:46:08.7970000Z</dcterms:modified>
</coreProperties>
</file>